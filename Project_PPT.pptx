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71" r:id="rId3"/>
    <p:sldId id="257" r:id="rId4"/>
    <p:sldId id="258" r:id="rId5"/>
    <p:sldId id="259" r:id="rId6"/>
    <p:sldId id="300" r:id="rId7"/>
    <p:sldId id="301" r:id="rId8"/>
    <p:sldId id="303" r:id="rId9"/>
    <p:sldId id="304" r:id="rId10"/>
    <p:sldId id="305" r:id="rId11"/>
    <p:sldId id="290" r:id="rId12"/>
    <p:sldId id="278" r:id="rId13"/>
    <p:sldId id="268" r:id="rId14"/>
    <p:sldId id="264" r:id="rId15"/>
    <p:sldId id="302" r:id="rId16"/>
    <p:sldId id="306" r:id="rId17"/>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32" userDrawn="1">
          <p15:clr>
            <a:srgbClr val="A4A3A4"/>
          </p15:clr>
        </p15:guide>
        <p15:guide id="2" pos="214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F497D"/>
    <a:srgbClr val="0000FF"/>
    <a:srgbClr val="3B3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181FE2-5804-4D93-8558-BD4D7E861417}" v="20" dt="2026-03-06T15:28:41.433"/>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100" d="100"/>
          <a:sy n="100" d="100"/>
        </p:scale>
        <p:origin x="946" y="475"/>
      </p:cViewPr>
      <p:guideLst>
        <p:guide orient="horz" pos="2832"/>
        <p:guide pos="214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dnesh Ranshevare" userId="329ae0a58eb8a1cb" providerId="LiveId" clId="{D86E2F1C-E979-4038-B05A-9BC8D89F5FE0}"/>
    <pc:docChg chg="undo custSel modSld sldOrd">
      <pc:chgData name="Yadnesh Ranshevare" userId="329ae0a58eb8a1cb" providerId="LiveId" clId="{D86E2F1C-E979-4038-B05A-9BC8D89F5FE0}" dt="2026-03-06T15:28:49.853" v="55" actId="113"/>
      <pc:docMkLst>
        <pc:docMk/>
      </pc:docMkLst>
      <pc:sldChg chg="modSp mod">
        <pc:chgData name="Yadnesh Ranshevare" userId="329ae0a58eb8a1cb" providerId="LiveId" clId="{D86E2F1C-E979-4038-B05A-9BC8D89F5FE0}" dt="2026-03-06T15:23:16.998" v="6" actId="20577"/>
        <pc:sldMkLst>
          <pc:docMk/>
          <pc:sldMk cId="0" sldId="257"/>
        </pc:sldMkLst>
        <pc:spChg chg="mod">
          <ac:chgData name="Yadnesh Ranshevare" userId="329ae0a58eb8a1cb" providerId="LiveId" clId="{D86E2F1C-E979-4038-B05A-9BC8D89F5FE0}" dt="2026-03-06T15:23:16.998" v="6" actId="20577"/>
          <ac:spMkLst>
            <pc:docMk/>
            <pc:sldMk cId="0" sldId="257"/>
            <ac:spMk id="4" creationId="{00000000-0000-0000-0000-000000000000}"/>
          </ac:spMkLst>
        </pc:spChg>
      </pc:sldChg>
      <pc:sldChg chg="ord">
        <pc:chgData name="Yadnesh Ranshevare" userId="329ae0a58eb8a1cb" providerId="LiveId" clId="{D86E2F1C-E979-4038-B05A-9BC8D89F5FE0}" dt="2026-03-06T15:23:05.080" v="1"/>
        <pc:sldMkLst>
          <pc:docMk/>
          <pc:sldMk cId="0" sldId="258"/>
        </pc:sldMkLst>
      </pc:sldChg>
      <pc:sldChg chg="addSp delSp modSp mod">
        <pc:chgData name="Yadnesh Ranshevare" userId="329ae0a58eb8a1cb" providerId="LiveId" clId="{D86E2F1C-E979-4038-B05A-9BC8D89F5FE0}" dt="2026-03-06T15:28:49.853" v="55" actId="113"/>
        <pc:sldMkLst>
          <pc:docMk/>
          <pc:sldMk cId="0" sldId="264"/>
        </pc:sldMkLst>
        <pc:spChg chg="add del mod">
          <ac:chgData name="Yadnesh Ranshevare" userId="329ae0a58eb8a1cb" providerId="LiveId" clId="{D86E2F1C-E979-4038-B05A-9BC8D89F5FE0}" dt="2026-03-06T15:28:49.853" v="55" actId="113"/>
          <ac:spMkLst>
            <pc:docMk/>
            <pc:sldMk cId="0" sldId="264"/>
            <ac:spMk id="5" creationId="{03498505-5993-8E96-14B3-4D8C2E9DB86D}"/>
          </ac:spMkLst>
        </pc:spChg>
        <pc:spChg chg="del">
          <ac:chgData name="Yadnesh Ranshevare" userId="329ae0a58eb8a1cb" providerId="LiveId" clId="{D86E2F1C-E979-4038-B05A-9BC8D89F5FE0}" dt="2026-03-06T15:25:23.686" v="8" actId="478"/>
          <ac:spMkLst>
            <pc:docMk/>
            <pc:sldMk cId="0" sldId="264"/>
            <ac:spMk id="6" creationId="{00000000-0000-0000-0000-000000000000}"/>
          </ac:spMkLst>
        </pc:spChg>
        <pc:spChg chg="add mod">
          <ac:chgData name="Yadnesh Ranshevare" userId="329ae0a58eb8a1cb" providerId="LiveId" clId="{D86E2F1C-E979-4038-B05A-9BC8D89F5FE0}" dt="2026-03-06T15:28:07.665" v="48" actId="14100"/>
          <ac:spMkLst>
            <pc:docMk/>
            <pc:sldMk cId="0" sldId="264"/>
            <ac:spMk id="7" creationId="{A4B17249-C0FF-C0E9-D1AA-DE7D3398B4C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06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068"/>
          </a:xfrm>
          <a:prstGeom prst="rect">
            <a:avLst/>
          </a:prstGeom>
        </p:spPr>
        <p:txBody>
          <a:bodyPr vert="horz" lIns="91440" tIns="45720" rIns="91440" bIns="45720" rtlCol="0"/>
          <a:lstStyle>
            <a:lvl1pPr algn="r">
              <a:defRPr sz="1200"/>
            </a:lvl1pPr>
          </a:lstStyle>
          <a:p>
            <a:fld id="{3EFD42F7-718C-4B98-AAEC-167E6DDD60A7}" type="datetimeFigureOut">
              <a:rPr lang="en-US" smtClean="0"/>
              <a:t>3/6/2026</a:t>
            </a:fld>
            <a:endParaRPr lang="en-US"/>
          </a:p>
        </p:txBody>
      </p:sp>
      <p:sp>
        <p:nvSpPr>
          <p:cNvPr id="4" name="Slide Image Placeholder 3"/>
          <p:cNvSpPr>
            <a:spLocks noGrp="1" noRot="1" noChangeAspect="1"/>
          </p:cNvSpPr>
          <p:nvPr>
            <p:ph type="sldImg" idx="2"/>
          </p:nvPr>
        </p:nvSpPr>
        <p:spPr>
          <a:xfrm>
            <a:off x="3028950" y="642938"/>
            <a:ext cx="3086100" cy="1735931"/>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5309"/>
            <a:ext cx="7315200" cy="202525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5432"/>
            <a:ext cx="3962400" cy="25806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85432"/>
            <a:ext cx="3962400" cy="258068"/>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1966800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028950" y="642938"/>
            <a:ext cx="3086100" cy="1736725"/>
          </a:xfrm>
        </p:spPr>
        <p:txBody>
          <a:bodyPr/>
          <a:lstStyle/>
          <a:p>
            <a:endParaRPr lang="en-IN"/>
          </a:p>
        </p:txBody>
      </p:sp>
      <p:sp>
        <p:nvSpPr>
          <p:cNvPr id="3" name="Text Placeholder 2"/>
          <p:cNvSpPr>
            <a:spLocks noGrp="1"/>
          </p:cNvSpPr>
          <p:nvPr>
            <p:ph type="body" idx="3"/>
          </p:nvPr>
        </p:nvSpPr>
        <p:spPr/>
        <p:txBody>
          <a:bodyPr/>
          <a:lstStyle/>
          <a:p>
            <a:endParaRPr lang="en-US"/>
          </a:p>
        </p:txBody>
      </p:sp>
    </p:spTree>
    <p:extLst>
      <p:ext uri="{BB962C8B-B14F-4D97-AF65-F5344CB8AC3E}">
        <p14:creationId xmlns:p14="http://schemas.microsoft.com/office/powerpoint/2010/main" val="914959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028950" y="642938"/>
            <a:ext cx="3086100" cy="1736725"/>
          </a:xfrm>
        </p:spPr>
        <p:txBody>
          <a:bodyPr/>
          <a:lstStyle/>
          <a:p>
            <a:endParaRPr lang="en-IN"/>
          </a:p>
        </p:txBody>
      </p:sp>
      <p:sp>
        <p:nvSpPr>
          <p:cNvPr id="3" name="Text Placeholder 2"/>
          <p:cNvSpPr>
            <a:spLocks noGrp="1"/>
          </p:cNvSpPr>
          <p:nvPr>
            <p:ph type="body" idx="3"/>
          </p:nvPr>
        </p:nvSpPr>
        <p:spPr/>
        <p:txBody>
          <a:bodyPr/>
          <a:lstStyle/>
          <a:p>
            <a:endParaRPr lang="en-US"/>
          </a:p>
        </p:txBody>
      </p:sp>
    </p:spTree>
    <p:extLst>
      <p:ext uri="{BB962C8B-B14F-4D97-AF65-F5344CB8AC3E}">
        <p14:creationId xmlns:p14="http://schemas.microsoft.com/office/powerpoint/2010/main" val="706954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16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3/6/2026</a:t>
            </a:fld>
            <a:endParaRPr lang="en-US"/>
          </a:p>
        </p:txBody>
      </p:sp>
      <p:sp>
        <p:nvSpPr>
          <p:cNvPr id="6" name="Holder 6"/>
          <p:cNvSpPr>
            <a:spLocks noGrp="1"/>
          </p:cNvSpPr>
          <p:nvPr>
            <p:ph type="sldNum" sz="quarter" idx="7"/>
          </p:nvPr>
        </p:nvSpPr>
        <p:spPr/>
        <p:txBody>
          <a:bodyPr lIns="0" tIns="0" rIns="0" bIns="0"/>
          <a:lstStyle>
            <a:lvl1pPr>
              <a:defRPr sz="1000" b="0" i="0">
                <a:solidFill>
                  <a:srgbClr val="595959"/>
                </a:solidFill>
                <a:latin typeface="Arial" panose="020B0604020202020204"/>
                <a:cs typeface="Arial" panose="020B0604020202020204"/>
              </a:defRPr>
            </a:lvl1pPr>
          </a:lstStyle>
          <a:p>
            <a:pPr marL="38100">
              <a:lnSpc>
                <a:spcPct val="100000"/>
              </a:lnSpc>
              <a:spcBef>
                <a:spcPts val="5"/>
              </a:spcBef>
            </a:pPr>
            <a:fld id="{81D60167-4931-47E6-BA6A-407CBD079E47}" type="slidenum">
              <a:rPr spc="-25" dirty="0"/>
              <a:t>‹#›</a:t>
            </a:fld>
            <a:endParaRPr spc="-25"/>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3/6/2026</a:t>
            </a:fld>
            <a:endParaRPr lang="en-US"/>
          </a:p>
        </p:txBody>
      </p:sp>
      <p:sp>
        <p:nvSpPr>
          <p:cNvPr id="6" name="Holder 6"/>
          <p:cNvSpPr>
            <a:spLocks noGrp="1"/>
          </p:cNvSpPr>
          <p:nvPr>
            <p:ph type="sldNum" sz="quarter" idx="7"/>
          </p:nvPr>
        </p:nvSpPr>
        <p:spPr/>
        <p:txBody>
          <a:bodyPr lIns="0" tIns="0" rIns="0" bIns="0"/>
          <a:lstStyle>
            <a:lvl1pPr>
              <a:defRPr sz="1000" b="0" i="0">
                <a:solidFill>
                  <a:srgbClr val="595959"/>
                </a:solidFill>
                <a:latin typeface="Arial" panose="020B0604020202020204"/>
                <a:cs typeface="Arial" panose="020B0604020202020204"/>
              </a:defRPr>
            </a:lvl1pPr>
          </a:lstStyle>
          <a:p>
            <a:pPr marL="38100">
              <a:lnSpc>
                <a:spcPct val="100000"/>
              </a:lnSpc>
              <a:spcBef>
                <a:spcPts val="5"/>
              </a:spcBef>
            </a:pPr>
            <a:fld id="{81D60167-4931-47E6-BA6A-407CBD079E47}" type="slidenum">
              <a:rPr spc="-25" dirty="0"/>
              <a:t>‹#›</a:t>
            </a:fld>
            <a:endParaRPr spc="-25"/>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1" i="0">
                <a:solidFill>
                  <a:schemeClr val="tx1"/>
                </a:solidFill>
                <a:latin typeface="Arial" panose="020B0604020202020204"/>
                <a:cs typeface="Arial" panose="020B0604020202020204"/>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3/6/2026</a:t>
            </a:fld>
            <a:endParaRPr lang="en-US"/>
          </a:p>
        </p:txBody>
      </p:sp>
      <p:sp>
        <p:nvSpPr>
          <p:cNvPr id="7" name="Holder 7"/>
          <p:cNvSpPr>
            <a:spLocks noGrp="1"/>
          </p:cNvSpPr>
          <p:nvPr>
            <p:ph type="sldNum" sz="quarter" idx="7"/>
          </p:nvPr>
        </p:nvSpPr>
        <p:spPr/>
        <p:txBody>
          <a:bodyPr lIns="0" tIns="0" rIns="0" bIns="0"/>
          <a:lstStyle>
            <a:lvl1pPr>
              <a:defRPr sz="1000" b="0" i="0">
                <a:solidFill>
                  <a:srgbClr val="595959"/>
                </a:solidFill>
                <a:latin typeface="Arial" panose="020B0604020202020204"/>
                <a:cs typeface="Arial" panose="020B0604020202020204"/>
              </a:defRPr>
            </a:lvl1pPr>
          </a:lstStyle>
          <a:p>
            <a:pPr marL="38100">
              <a:lnSpc>
                <a:spcPct val="100000"/>
              </a:lnSpc>
              <a:spcBef>
                <a:spcPts val="5"/>
              </a:spcBef>
            </a:pPr>
            <a:fld id="{81D60167-4931-47E6-BA6A-407CBD079E47}" type="slidenum">
              <a:rPr spc="-25" dirty="0"/>
              <a:t>‹#›</a:t>
            </a:fld>
            <a:endParaRPr spc="-25"/>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3/6/2026</a:t>
            </a:fld>
            <a:endParaRPr lang="en-US"/>
          </a:p>
        </p:txBody>
      </p:sp>
      <p:sp>
        <p:nvSpPr>
          <p:cNvPr id="5" name="Holder 5"/>
          <p:cNvSpPr>
            <a:spLocks noGrp="1"/>
          </p:cNvSpPr>
          <p:nvPr>
            <p:ph type="sldNum" sz="quarter" idx="7"/>
          </p:nvPr>
        </p:nvSpPr>
        <p:spPr/>
        <p:txBody>
          <a:bodyPr lIns="0" tIns="0" rIns="0" bIns="0"/>
          <a:lstStyle>
            <a:lvl1pPr>
              <a:defRPr sz="1000" b="0" i="0">
                <a:solidFill>
                  <a:srgbClr val="595959"/>
                </a:solidFill>
                <a:latin typeface="Arial" panose="020B0604020202020204"/>
                <a:cs typeface="Arial" panose="020B0604020202020204"/>
              </a:defRPr>
            </a:lvl1pPr>
          </a:lstStyle>
          <a:p>
            <a:pPr marL="38100">
              <a:lnSpc>
                <a:spcPct val="100000"/>
              </a:lnSpc>
              <a:spcBef>
                <a:spcPts val="5"/>
              </a:spcBef>
            </a:pPr>
            <a:fld id="{81D60167-4931-47E6-BA6A-407CBD079E47}" type="slidenum">
              <a:rPr spc="-25" dirty="0"/>
              <a:t>‹#›</a:t>
            </a:fld>
            <a:endParaRPr spc="-25"/>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3/6/2026</a:t>
            </a:fld>
            <a:endParaRPr lang="en-US"/>
          </a:p>
        </p:txBody>
      </p:sp>
      <p:sp>
        <p:nvSpPr>
          <p:cNvPr id="4" name="Holder 4"/>
          <p:cNvSpPr>
            <a:spLocks noGrp="1"/>
          </p:cNvSpPr>
          <p:nvPr>
            <p:ph type="sldNum" sz="quarter" idx="7"/>
          </p:nvPr>
        </p:nvSpPr>
        <p:spPr/>
        <p:txBody>
          <a:bodyPr lIns="0" tIns="0" rIns="0" bIns="0"/>
          <a:lstStyle>
            <a:lvl1pPr>
              <a:defRPr sz="1000" b="0" i="0">
                <a:solidFill>
                  <a:srgbClr val="595959"/>
                </a:solidFill>
                <a:latin typeface="Arial" panose="020B0604020202020204"/>
                <a:cs typeface="Arial" panose="020B0604020202020204"/>
              </a:defRPr>
            </a:lvl1pPr>
          </a:lstStyle>
          <a:p>
            <a:pPr marL="38100">
              <a:lnSpc>
                <a:spcPct val="100000"/>
              </a:lnSpc>
              <a:spcBef>
                <a:spcPts val="5"/>
              </a:spcBef>
            </a:pPr>
            <a:fld id="{81D60167-4931-47E6-BA6A-407CBD079E47}" type="slidenum">
              <a:rPr spc="-25" dirty="0"/>
              <a:t>‹#›</a:t>
            </a:fld>
            <a:endParaRPr spc="-25"/>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522000" y="295804"/>
            <a:ext cx="8100000" cy="529200"/>
          </a:xfrm>
        </p:spPr>
        <p:txBody>
          <a:bodyPr/>
          <a:lstStyle>
            <a:lvl1pPr algn="ctr">
              <a:defRPr sz="2400">
                <a:solidFill>
                  <a:schemeClr val="tx1"/>
                </a:solidFill>
                <a:latin typeface="+mj-lt"/>
              </a:defRPr>
            </a:lvl1pPr>
          </a:lstStyle>
          <a:p>
            <a:r>
              <a:rPr lang="en-US"/>
              <a:t>Click to add title</a:t>
            </a:r>
          </a:p>
        </p:txBody>
      </p:sp>
      <p:sp>
        <p:nvSpPr>
          <p:cNvPr id="3" name="日期占位符 2"/>
          <p:cNvSpPr>
            <a:spLocks noGrp="1"/>
          </p:cNvSpPr>
          <p:nvPr>
            <p:ph type="dt" sz="half" idx="10"/>
            <p:custDataLst>
              <p:tags r:id="rId2"/>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7707305" y="104710"/>
            <a:ext cx="1349243" cy="1675364"/>
          </a:xfrm>
          <a:prstGeom prst="rect">
            <a:avLst/>
          </a:prstGeom>
        </p:spPr>
      </p:pic>
      <p:pic>
        <p:nvPicPr>
          <p:cNvPr id="17" name="bg object 17"/>
          <p:cNvPicPr/>
          <p:nvPr/>
        </p:nvPicPr>
        <p:blipFill>
          <a:blip r:embed="rId9" cstate="print"/>
          <a:stretch>
            <a:fillRect/>
          </a:stretch>
        </p:blipFill>
        <p:spPr>
          <a:xfrm>
            <a:off x="0" y="0"/>
            <a:ext cx="1680623" cy="814325"/>
          </a:xfrm>
          <a:prstGeom prst="rect">
            <a:avLst/>
          </a:prstGeom>
        </p:spPr>
      </p:pic>
      <p:sp>
        <p:nvSpPr>
          <p:cNvPr id="2" name="Holder 2"/>
          <p:cNvSpPr>
            <a:spLocks noGrp="1"/>
          </p:cNvSpPr>
          <p:nvPr>
            <p:ph type="title"/>
          </p:nvPr>
        </p:nvSpPr>
        <p:spPr>
          <a:xfrm>
            <a:off x="2835458" y="213647"/>
            <a:ext cx="2962275" cy="412514"/>
          </a:xfrm>
          <a:prstGeom prst="rect">
            <a:avLst/>
          </a:prstGeom>
        </p:spPr>
        <p:txBody>
          <a:bodyPr wrap="square" lIns="0" tIns="0" rIns="0" bIns="0">
            <a:spAutoFit/>
          </a:bodyPr>
          <a:lstStyle>
            <a:lvl1pPr>
              <a:defRPr sz="16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body" idx="1"/>
          </p:nvPr>
        </p:nvSpPr>
        <p:spPr>
          <a:xfrm>
            <a:off x="457200" y="1183005"/>
            <a:ext cx="822960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3/6/2026</a:t>
            </a:fld>
            <a:endParaRPr lang="en-US"/>
          </a:p>
        </p:txBody>
      </p:sp>
      <p:sp>
        <p:nvSpPr>
          <p:cNvPr id="6" name="Holder 6"/>
          <p:cNvSpPr>
            <a:spLocks noGrp="1"/>
          </p:cNvSpPr>
          <p:nvPr>
            <p:ph type="sldNum" sz="quarter" idx="7"/>
          </p:nvPr>
        </p:nvSpPr>
        <p:spPr>
          <a:xfrm>
            <a:off x="8756125" y="4778067"/>
            <a:ext cx="230504" cy="167639"/>
          </a:xfrm>
          <a:prstGeom prst="rect">
            <a:avLst/>
          </a:prstGeom>
        </p:spPr>
        <p:txBody>
          <a:bodyPr wrap="square" lIns="0" tIns="0" rIns="0" bIns="0">
            <a:spAutoFit/>
          </a:bodyPr>
          <a:lstStyle>
            <a:lvl1pPr>
              <a:defRPr sz="1000" b="0" i="0">
                <a:solidFill>
                  <a:srgbClr val="595959"/>
                </a:solidFill>
                <a:latin typeface="Arial" panose="020B0604020202020204"/>
                <a:cs typeface="Arial" panose="020B0604020202020204"/>
              </a:defRPr>
            </a:lvl1pPr>
          </a:lstStyle>
          <a:p>
            <a:pPr marL="38100">
              <a:lnSpc>
                <a:spcPct val="100000"/>
              </a:lnSpc>
              <a:spcBef>
                <a:spcPts val="5"/>
              </a:spcBef>
            </a:pPr>
            <a:fld id="{81D60167-4931-47E6-BA6A-407CBD079E47}" type="slidenum">
              <a:rPr spc="-25" dirty="0"/>
              <a:t>‹#›</a:t>
            </a:fld>
            <a:endParaRPr spc="-25"/>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hyperlink" Target="https://dl.acm.org/doi/epdf/10.1145/3632634.3655878"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link.springer.com/article/10.1186/s12911-022-01772-2#Abs1"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link.springer.com/article/10.1186/s12911-025-03315-x#Abs1"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link.springer.com/article/10.1038/s41598-025-15867-z"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link.springer.com/article/10.1007/s44192-026-00373-z"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63875" y="330835"/>
            <a:ext cx="3100070" cy="417830"/>
          </a:xfrm>
          <a:prstGeom prst="rect">
            <a:avLst/>
          </a:prstGeom>
        </p:spPr>
        <p:txBody>
          <a:bodyPr vert="horz" wrap="square" lIns="0" tIns="12700" rIns="0" bIns="0" rtlCol="0">
            <a:noAutofit/>
          </a:bodyPr>
          <a:lstStyle/>
          <a:p>
            <a:pPr marL="12700">
              <a:lnSpc>
                <a:spcPct val="100000"/>
              </a:lnSpc>
              <a:spcBef>
                <a:spcPts val="100"/>
              </a:spcBef>
            </a:pPr>
            <a:r>
              <a:rPr sz="18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a:t>
            </a:r>
            <a:r>
              <a:rPr sz="1800" u="sng" spc="-35"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1800" u="sng" spc="-25"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PRESENTATION</a:t>
            </a:r>
            <a:r>
              <a:rPr sz="1800" u="sng" spc="-3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br>
              <a:rPr lang="en-US" u="sng" spc="-25" dirty="0">
                <a:latin typeface="Times New Roman" panose="02020603050405020304" pitchFamily="18" charset="0"/>
                <a:cs typeface="Times New Roman" panose="02020603050405020304" pitchFamily="18" charset="0"/>
              </a:rPr>
            </a:br>
            <a:endParaRPr u="sng" spc="-25" dirty="0">
              <a:latin typeface="Times New Roman" panose="02020603050405020304" pitchFamily="18" charset="0"/>
              <a:cs typeface="Times New Roman" panose="02020603050405020304" pitchFamily="18" charset="0"/>
            </a:endParaRPr>
          </a:p>
        </p:txBody>
      </p:sp>
      <p:sp>
        <p:nvSpPr>
          <p:cNvPr id="3" name="object 3"/>
          <p:cNvSpPr txBox="1"/>
          <p:nvPr/>
        </p:nvSpPr>
        <p:spPr>
          <a:xfrm>
            <a:off x="1187245" y="1565304"/>
            <a:ext cx="6769509" cy="2012891"/>
          </a:xfrm>
          <a:prstGeom prst="rect">
            <a:avLst/>
          </a:prstGeom>
        </p:spPr>
        <p:txBody>
          <a:bodyPr vert="horz" wrap="square" lIns="0" tIns="12700" rIns="0" bIns="0" rtlCol="0">
            <a:noAutofit/>
          </a:bodyPr>
          <a:lstStyle/>
          <a:p>
            <a:pPr marL="12700" algn="ctr">
              <a:lnSpc>
                <a:spcPct val="200000"/>
              </a:lnSpc>
              <a:spcBef>
                <a:spcPts val="100"/>
              </a:spcBef>
            </a:pPr>
            <a:r>
              <a:rPr lang="en-US" sz="2000" b="1" dirty="0">
                <a:latin typeface="Times New Roman" panose="02020603050405020304" pitchFamily="18" charset="0"/>
                <a:cs typeface="Times New Roman" panose="02020603050405020304" pitchFamily="18" charset="0"/>
              </a:rPr>
              <a:t>Explainable AI for Stress and Mental Health Prediction</a:t>
            </a:r>
            <a:endParaRPr lang="en-US" sz="1600" b="1" dirty="0">
              <a:latin typeface="Times New Roman" panose="02020603050405020304" pitchFamily="18" charset="0"/>
              <a:cs typeface="Times New Roman" panose="02020603050405020304" pitchFamily="18" charset="0"/>
            </a:endParaRPr>
          </a:p>
          <a:p>
            <a:pPr marL="12700" algn="ctr">
              <a:lnSpc>
                <a:spcPct val="200000"/>
              </a:lnSpc>
              <a:spcBef>
                <a:spcPts val="100"/>
              </a:spcBef>
            </a:pPr>
            <a:r>
              <a:rPr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SEM</a:t>
            </a:r>
            <a:r>
              <a:rPr sz="1600" b="1" spc="-5"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1600" b="1" spc="-5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sz="1600" b="1" spc="-5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VI</a:t>
            </a:r>
          </a:p>
          <a:p>
            <a:pPr algn="ctr">
              <a:lnSpc>
                <a:spcPct val="200000"/>
              </a:lnSpc>
            </a:pPr>
            <a:r>
              <a:rPr lang="en-US" sz="1600" b="1" spc="-5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Guide: </a:t>
            </a:r>
            <a:r>
              <a:rPr lang="en-IN" sz="1600" b="1" spc="-5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Prof. Dakshata </a:t>
            </a:r>
            <a:r>
              <a:rPr lang="en-IN" sz="1600" b="1" spc="-50" dirty="0"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Arghade</a:t>
            </a:r>
            <a:endParaRPr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object 4"/>
          <p:cNvSpPr txBox="1"/>
          <p:nvPr/>
        </p:nvSpPr>
        <p:spPr>
          <a:xfrm>
            <a:off x="3134042" y="4646897"/>
            <a:ext cx="2959735" cy="177800"/>
          </a:xfrm>
          <a:prstGeom prst="rect">
            <a:avLst/>
          </a:prstGeom>
        </p:spPr>
        <p:txBody>
          <a:bodyPr vert="horz" wrap="square" lIns="0" tIns="12700" rIns="0" bIns="0" rtlCol="0">
            <a:spAutoFit/>
          </a:bodyPr>
          <a:lstStyle/>
          <a:p>
            <a:pPr marL="12700">
              <a:lnSpc>
                <a:spcPct val="100000"/>
              </a:lnSpc>
              <a:spcBef>
                <a:spcPts val="100"/>
              </a:spcBef>
            </a:pPr>
            <a:r>
              <a:rPr sz="1000" b="1" spc="-20" dirty="0">
                <a:latin typeface="Arial" panose="020B0604020202020204"/>
                <a:cs typeface="Arial" panose="020B0604020202020204"/>
              </a:rPr>
              <a:t>DEPARTMENT</a:t>
            </a:r>
            <a:r>
              <a:rPr sz="1000" b="1" spc="20" dirty="0">
                <a:latin typeface="Arial" panose="020B0604020202020204"/>
                <a:cs typeface="Arial" panose="020B0604020202020204"/>
              </a:rPr>
              <a:t> </a:t>
            </a:r>
            <a:r>
              <a:rPr sz="1000" b="1" dirty="0">
                <a:latin typeface="Arial" panose="020B0604020202020204"/>
                <a:cs typeface="Arial" panose="020B0604020202020204"/>
              </a:rPr>
              <a:t>OF</a:t>
            </a:r>
            <a:r>
              <a:rPr sz="1000" b="1" spc="25" dirty="0">
                <a:latin typeface="Arial" panose="020B0604020202020204"/>
                <a:cs typeface="Arial" panose="020B0604020202020204"/>
              </a:rPr>
              <a:t> </a:t>
            </a:r>
            <a:r>
              <a:rPr sz="1000" b="1" spc="-20" dirty="0">
                <a:latin typeface="Arial" panose="020B0604020202020204"/>
                <a:cs typeface="Arial" panose="020B0604020202020204"/>
              </a:rPr>
              <a:t>INFORMATION</a:t>
            </a:r>
            <a:r>
              <a:rPr sz="1000" b="1" spc="20" dirty="0">
                <a:latin typeface="Arial" panose="020B0604020202020204"/>
                <a:cs typeface="Arial" panose="020B0604020202020204"/>
              </a:rPr>
              <a:t> </a:t>
            </a:r>
            <a:r>
              <a:rPr sz="1000" b="1" spc="-10" dirty="0">
                <a:latin typeface="Arial" panose="020B0604020202020204"/>
                <a:cs typeface="Arial" panose="020B0604020202020204"/>
              </a:rPr>
              <a:t>TECHNOLOGY</a:t>
            </a:r>
            <a:endParaRPr sz="1000" dirty="0">
              <a:latin typeface="Arial" panose="020B0604020202020204"/>
              <a:cs typeface="Arial" panose="020B0604020202020204"/>
            </a:endParaRPr>
          </a:p>
        </p:txBody>
      </p:sp>
      <p:sp>
        <p:nvSpPr>
          <p:cNvPr id="5" name="object 5"/>
          <p:cNvSpPr txBox="1"/>
          <p:nvPr/>
        </p:nvSpPr>
        <p:spPr>
          <a:xfrm>
            <a:off x="8852129" y="4766037"/>
            <a:ext cx="96520" cy="177800"/>
          </a:xfrm>
          <a:prstGeom prst="rect">
            <a:avLst/>
          </a:prstGeom>
        </p:spPr>
        <p:txBody>
          <a:bodyPr vert="horz" wrap="square" lIns="0" tIns="12700" rIns="0" bIns="0" rtlCol="0">
            <a:spAutoFit/>
          </a:bodyPr>
          <a:lstStyle/>
          <a:p>
            <a:pPr marL="12700">
              <a:lnSpc>
                <a:spcPct val="100000"/>
              </a:lnSpc>
              <a:spcBef>
                <a:spcPts val="100"/>
              </a:spcBef>
            </a:pPr>
            <a:r>
              <a:rPr sz="1000" spc="-50">
                <a:solidFill>
                  <a:srgbClr val="595959"/>
                </a:solidFill>
                <a:latin typeface="Arial" panose="020B0604020202020204"/>
                <a:cs typeface="Arial" panose="020B0604020202020204"/>
              </a:rPr>
              <a:t>1</a:t>
            </a:r>
            <a:endParaRPr sz="1000">
              <a:latin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601" y="327861"/>
            <a:ext cx="3337192" cy="434496"/>
          </a:xfrm>
          <a:prstGeom prst="rect">
            <a:avLst/>
          </a:prstGeom>
        </p:spPr>
        <p:txBody>
          <a:bodyPr vert="horz" wrap="square" lIns="0" tIns="155974" rIns="0" bIns="0" rtlCol="0">
            <a:spAutoFit/>
          </a:bodyPr>
          <a:lstStyle/>
          <a:p>
            <a:pPr marL="1386205" algn="l">
              <a:lnSpc>
                <a:spcPct val="100000"/>
              </a:lnSpc>
              <a:spcBef>
                <a:spcPts val="100"/>
              </a:spcBef>
            </a:pPr>
            <a:r>
              <a:rPr lang="en-US" sz="1800" u="sng" spc="-1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MEMBERS</a:t>
            </a:r>
          </a:p>
        </p:txBody>
      </p:sp>
      <p:sp>
        <p:nvSpPr>
          <p:cNvPr id="5" name="object 5"/>
          <p:cNvSpPr txBox="1">
            <a:spLocks noGrp="1"/>
          </p:cNvSpPr>
          <p:nvPr>
            <p:ph type="sldNum" sz="quarter" idx="7"/>
          </p:nvPr>
        </p:nvSpPr>
        <p:spPr>
          <a:xfrm>
            <a:off x="8884395" y="4778067"/>
            <a:ext cx="230504" cy="167639"/>
          </a:xfrm>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2</a:t>
            </a:fld>
            <a:endParaRPr spc="-25"/>
          </a:p>
        </p:txBody>
      </p:sp>
      <p:sp>
        <p:nvSpPr>
          <p:cNvPr id="3" name="object 3"/>
          <p:cNvSpPr txBox="1"/>
          <p:nvPr/>
        </p:nvSpPr>
        <p:spPr>
          <a:xfrm>
            <a:off x="3092132" y="4678070"/>
            <a:ext cx="2959735" cy="177800"/>
          </a:xfrm>
          <a:prstGeom prst="rect">
            <a:avLst/>
          </a:prstGeom>
        </p:spPr>
        <p:txBody>
          <a:bodyPr vert="horz" wrap="square" lIns="0" tIns="12700" rIns="0" bIns="0" rtlCol="0">
            <a:spAutoFit/>
          </a:bodyPr>
          <a:lstStyle/>
          <a:p>
            <a:pPr marL="12700">
              <a:lnSpc>
                <a:spcPct val="100000"/>
              </a:lnSpc>
              <a:spcBef>
                <a:spcPts val="100"/>
              </a:spcBef>
            </a:pPr>
            <a:r>
              <a:rPr sz="1000" b="1" spc="-20">
                <a:latin typeface="Arial" panose="020B0604020202020204"/>
                <a:cs typeface="Arial" panose="020B0604020202020204"/>
              </a:rPr>
              <a:t>DEPARTMENT</a:t>
            </a:r>
            <a:r>
              <a:rPr sz="1000" b="1" spc="20">
                <a:latin typeface="Arial" panose="020B0604020202020204"/>
                <a:cs typeface="Arial" panose="020B0604020202020204"/>
              </a:rPr>
              <a:t> </a:t>
            </a:r>
            <a:r>
              <a:rPr sz="1000" b="1">
                <a:latin typeface="Arial" panose="020B0604020202020204"/>
                <a:cs typeface="Arial" panose="020B0604020202020204"/>
              </a:rPr>
              <a:t>OF</a:t>
            </a:r>
            <a:r>
              <a:rPr sz="1000" b="1" spc="25">
                <a:latin typeface="Arial" panose="020B0604020202020204"/>
                <a:cs typeface="Arial" panose="020B0604020202020204"/>
              </a:rPr>
              <a:t> </a:t>
            </a:r>
            <a:r>
              <a:rPr sz="1000" b="1" spc="-20">
                <a:latin typeface="Arial" panose="020B0604020202020204"/>
                <a:cs typeface="Arial" panose="020B0604020202020204"/>
              </a:rPr>
              <a:t>INFORMATION</a:t>
            </a:r>
            <a:r>
              <a:rPr sz="1000" b="1" spc="20">
                <a:latin typeface="Arial" panose="020B0604020202020204"/>
                <a:cs typeface="Arial" panose="020B0604020202020204"/>
              </a:rPr>
              <a:t> </a:t>
            </a:r>
            <a:r>
              <a:rPr sz="1000" b="1" spc="-10">
                <a:latin typeface="Arial" panose="020B0604020202020204"/>
                <a:cs typeface="Arial" panose="020B0604020202020204"/>
              </a:rPr>
              <a:t>TECHNOLOGY</a:t>
            </a:r>
            <a:endParaRPr sz="1000">
              <a:latin typeface="Arial" panose="020B0604020202020204"/>
              <a:cs typeface="Arial" panose="020B0604020202020204"/>
            </a:endParaRPr>
          </a:p>
        </p:txBody>
      </p:sp>
      <p:graphicFrame>
        <p:nvGraphicFramePr>
          <p:cNvPr id="4" name="Table 3">
            <a:extLst>
              <a:ext uri="{FF2B5EF4-FFF2-40B4-BE49-F238E27FC236}">
                <a16:creationId xmlns:a16="http://schemas.microsoft.com/office/drawing/2014/main" id="{EE4F3FB0-DB84-3188-114E-537ED56FFF52}"/>
              </a:ext>
            </a:extLst>
          </p:cNvPr>
          <p:cNvGraphicFramePr>
            <a:graphicFrameLocks noGrp="1"/>
          </p:cNvGraphicFramePr>
          <p:nvPr>
            <p:extLst>
              <p:ext uri="{D42A27DB-BD31-4B8C-83A1-F6EECF244321}">
                <p14:modId xmlns:p14="http://schemas.microsoft.com/office/powerpoint/2010/main" val="555565890"/>
              </p:ext>
            </p:extLst>
          </p:nvPr>
        </p:nvGraphicFramePr>
        <p:xfrm>
          <a:off x="1524000" y="1644650"/>
          <a:ext cx="6096000" cy="18542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299910491"/>
                    </a:ext>
                  </a:extLst>
                </a:gridCol>
                <a:gridCol w="3048000">
                  <a:extLst>
                    <a:ext uri="{9D8B030D-6E8A-4147-A177-3AD203B41FA5}">
                      <a16:colId xmlns:a16="http://schemas.microsoft.com/office/drawing/2014/main" val="3003053936"/>
                    </a:ext>
                  </a:extLst>
                </a:gridCol>
              </a:tblGrid>
              <a:tr h="370840">
                <a:tc>
                  <a:txBody>
                    <a:bodyPr/>
                    <a:lstStyle/>
                    <a:p>
                      <a:pPr algn="ctr"/>
                      <a:r>
                        <a:rPr lang="en-IN" dirty="0">
                          <a:latin typeface="Arial" panose="020B0604020202020204" pitchFamily="34" charset="0"/>
                          <a:cs typeface="Arial" panose="020B0604020202020204" pitchFamily="34" charset="0"/>
                        </a:rPr>
                        <a:t>Name</a:t>
                      </a:r>
                    </a:p>
                  </a:txBody>
                  <a:tcPr/>
                </a:tc>
                <a:tc>
                  <a:txBody>
                    <a:bodyPr/>
                    <a:lstStyle/>
                    <a:p>
                      <a:pPr algn="ctr"/>
                      <a:r>
                        <a:rPr lang="en-IN" dirty="0">
                          <a:latin typeface="Arial" panose="020B0604020202020204" pitchFamily="34" charset="0"/>
                          <a:cs typeface="Arial" panose="020B0604020202020204" pitchFamily="34" charset="0"/>
                        </a:rPr>
                        <a:t>ID</a:t>
                      </a:r>
                    </a:p>
                  </a:txBody>
                  <a:tcPr/>
                </a:tc>
                <a:extLst>
                  <a:ext uri="{0D108BD9-81ED-4DB2-BD59-A6C34878D82A}">
                    <a16:rowId xmlns:a16="http://schemas.microsoft.com/office/drawing/2014/main" val="3446965728"/>
                  </a:ext>
                </a:extLst>
              </a:tr>
              <a:tr h="370840">
                <a:tc>
                  <a:txBody>
                    <a:bodyPr/>
                    <a:lstStyle/>
                    <a:p>
                      <a:pPr lvl="0" algn="ctr"/>
                      <a:r>
                        <a:rPr lang="en-IN" sz="1600" dirty="0">
                          <a:latin typeface="Arial" panose="020B0604020202020204" pitchFamily="34" charset="0"/>
                          <a:cs typeface="Arial" panose="020B0604020202020204" pitchFamily="34" charset="0"/>
                        </a:rPr>
                        <a:t>Yadnesh Ranshevare</a:t>
                      </a:r>
                    </a:p>
                  </a:txBody>
                  <a:tcPr/>
                </a:tc>
                <a:tc>
                  <a:txBody>
                    <a:bodyPr/>
                    <a:lstStyle/>
                    <a:p>
                      <a:pPr lvl="0" algn="ctr"/>
                      <a:r>
                        <a:rPr lang="en-IN" sz="1600" dirty="0">
                          <a:latin typeface="Arial" panose="020B0604020202020204" pitchFamily="34" charset="0"/>
                          <a:cs typeface="Arial" panose="020B0604020202020204" pitchFamily="34" charset="0"/>
                        </a:rPr>
                        <a:t>TU4F2324023</a:t>
                      </a:r>
                    </a:p>
                  </a:txBody>
                  <a:tcPr/>
                </a:tc>
                <a:extLst>
                  <a:ext uri="{0D108BD9-81ED-4DB2-BD59-A6C34878D82A}">
                    <a16:rowId xmlns:a16="http://schemas.microsoft.com/office/drawing/2014/main" val="3892328431"/>
                  </a:ext>
                </a:extLst>
              </a:tr>
              <a:tr h="370840">
                <a:tc>
                  <a:txBody>
                    <a:bodyPr/>
                    <a:lstStyle/>
                    <a:p>
                      <a:pPr lvl="0" algn="ctr"/>
                      <a:r>
                        <a:rPr lang="en-IN" sz="1600" dirty="0">
                          <a:latin typeface="Arial" panose="020B0604020202020204" pitchFamily="34" charset="0"/>
                          <a:cs typeface="Arial" panose="020B0604020202020204" pitchFamily="34" charset="0"/>
                        </a:rPr>
                        <a:t>Shivam Tiwari</a:t>
                      </a:r>
                    </a:p>
                  </a:txBody>
                  <a:tcPr/>
                </a:tc>
                <a:tc>
                  <a:txBody>
                    <a:bodyPr/>
                    <a:lstStyle/>
                    <a:p>
                      <a:pPr lvl="0" algn="ctr"/>
                      <a:r>
                        <a:rPr lang="en-IN" sz="1600" dirty="0">
                          <a:latin typeface="Arial" panose="020B0604020202020204" pitchFamily="34" charset="0"/>
                          <a:cs typeface="Arial" panose="020B0604020202020204" pitchFamily="34" charset="0"/>
                        </a:rPr>
                        <a:t>TU4F2324019</a:t>
                      </a:r>
                    </a:p>
                  </a:txBody>
                  <a:tcPr/>
                </a:tc>
                <a:extLst>
                  <a:ext uri="{0D108BD9-81ED-4DB2-BD59-A6C34878D82A}">
                    <a16:rowId xmlns:a16="http://schemas.microsoft.com/office/drawing/2014/main" val="2689873565"/>
                  </a:ext>
                </a:extLst>
              </a:tr>
              <a:tr h="370840">
                <a:tc>
                  <a:txBody>
                    <a:bodyPr/>
                    <a:lstStyle/>
                    <a:p>
                      <a:pPr lvl="0" algn="ctr"/>
                      <a:r>
                        <a:rPr lang="en-IN" sz="1600" dirty="0">
                          <a:latin typeface="Arial" panose="020B0604020202020204" pitchFamily="34" charset="0"/>
                          <a:cs typeface="Arial" panose="020B0604020202020204" pitchFamily="34" charset="0"/>
                        </a:rPr>
                        <a:t>Ashutosh Tiwari</a:t>
                      </a:r>
                    </a:p>
                  </a:txBody>
                  <a:tcPr/>
                </a:tc>
                <a:tc>
                  <a:txBody>
                    <a:bodyPr/>
                    <a:lstStyle/>
                    <a:p>
                      <a:pPr lvl="0" algn="ctr"/>
                      <a:r>
                        <a:rPr lang="en-IN" sz="1600" dirty="0">
                          <a:latin typeface="Arial" panose="020B0604020202020204" pitchFamily="34" charset="0"/>
                          <a:cs typeface="Arial" panose="020B0604020202020204" pitchFamily="34" charset="0"/>
                        </a:rPr>
                        <a:t>TU4F2324002</a:t>
                      </a:r>
                    </a:p>
                  </a:txBody>
                  <a:tcPr/>
                </a:tc>
                <a:extLst>
                  <a:ext uri="{0D108BD9-81ED-4DB2-BD59-A6C34878D82A}">
                    <a16:rowId xmlns:a16="http://schemas.microsoft.com/office/drawing/2014/main" val="3834221495"/>
                  </a:ext>
                </a:extLst>
              </a:tr>
              <a:tr h="370840">
                <a:tc>
                  <a:txBody>
                    <a:bodyPr/>
                    <a:lstStyle/>
                    <a:p>
                      <a:pPr lvl="0" algn="ctr"/>
                      <a:r>
                        <a:rPr lang="en-IN" sz="1600" dirty="0">
                          <a:latin typeface="Arial" panose="020B0604020202020204" pitchFamily="34" charset="0"/>
                          <a:cs typeface="Arial" panose="020B0604020202020204" pitchFamily="34" charset="0"/>
                        </a:rPr>
                        <a:t>Sakshi Devkar</a:t>
                      </a:r>
                    </a:p>
                  </a:txBody>
                  <a:tcPr/>
                </a:tc>
                <a:tc>
                  <a:txBody>
                    <a:bodyPr/>
                    <a:lstStyle/>
                    <a:p>
                      <a:pPr lvl="0" algn="ctr"/>
                      <a:r>
                        <a:rPr lang="en-IN" sz="1600" dirty="0">
                          <a:latin typeface="Arial" panose="020B0604020202020204" pitchFamily="34" charset="0"/>
                          <a:cs typeface="Arial" panose="020B0604020202020204" pitchFamily="34" charset="0"/>
                        </a:rPr>
                        <a:t>TU4F2324009</a:t>
                      </a:r>
                    </a:p>
                  </a:txBody>
                  <a:tcPr/>
                </a:tc>
                <a:extLst>
                  <a:ext uri="{0D108BD9-81ED-4DB2-BD59-A6C34878D82A}">
                    <a16:rowId xmlns:a16="http://schemas.microsoft.com/office/drawing/2014/main" val="3468601724"/>
                  </a:ext>
                </a:extLst>
              </a:tr>
            </a:tbl>
          </a:graphicData>
        </a:graphic>
      </p:graphicFrame>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3</a:t>
            </a:fld>
            <a:endParaRPr spc="-25"/>
          </a:p>
        </p:txBody>
      </p:sp>
      <p:sp>
        <p:nvSpPr>
          <p:cNvPr id="3" name="object 3"/>
          <p:cNvSpPr txBox="1"/>
          <p:nvPr/>
        </p:nvSpPr>
        <p:spPr>
          <a:xfrm>
            <a:off x="3092131" y="4640589"/>
            <a:ext cx="2959735" cy="274955"/>
          </a:xfrm>
          <a:prstGeom prst="rect">
            <a:avLst/>
          </a:prstGeom>
        </p:spPr>
        <p:txBody>
          <a:bodyPr vert="horz" wrap="square" lIns="0" tIns="12700" rIns="0" bIns="0" rtlCol="0">
            <a:noAutofit/>
          </a:bodyPr>
          <a:lstStyle/>
          <a:p>
            <a:pPr marL="12700">
              <a:lnSpc>
                <a:spcPct val="100000"/>
              </a:lnSpc>
              <a:spcBef>
                <a:spcPts val="100"/>
              </a:spcBef>
            </a:pPr>
            <a:r>
              <a:rPr sz="1000" b="1" spc="-20" dirty="0">
                <a:latin typeface="Arial" panose="020B0604020202020204"/>
                <a:cs typeface="Arial" panose="020B0604020202020204"/>
              </a:rPr>
              <a:t>DEPARTMENT</a:t>
            </a:r>
            <a:r>
              <a:rPr sz="1000" b="1" spc="20" dirty="0">
                <a:latin typeface="Arial" panose="020B0604020202020204"/>
                <a:cs typeface="Arial" panose="020B0604020202020204"/>
              </a:rPr>
              <a:t> </a:t>
            </a:r>
            <a:r>
              <a:rPr sz="1000" b="1" dirty="0">
                <a:latin typeface="Arial" panose="020B0604020202020204"/>
                <a:cs typeface="Arial" panose="020B0604020202020204"/>
              </a:rPr>
              <a:t>OF</a:t>
            </a:r>
            <a:r>
              <a:rPr sz="1000" b="1" spc="25" dirty="0">
                <a:latin typeface="Arial" panose="020B0604020202020204"/>
                <a:cs typeface="Arial" panose="020B0604020202020204"/>
              </a:rPr>
              <a:t> </a:t>
            </a:r>
            <a:r>
              <a:rPr sz="1000" b="1" spc="-20" dirty="0">
                <a:latin typeface="Arial" panose="020B0604020202020204"/>
                <a:cs typeface="Arial" panose="020B0604020202020204"/>
              </a:rPr>
              <a:t>INFORMATION</a:t>
            </a:r>
            <a:r>
              <a:rPr sz="1000" b="1" spc="20" dirty="0">
                <a:latin typeface="Arial" panose="020B0604020202020204"/>
                <a:cs typeface="Arial" panose="020B0604020202020204"/>
              </a:rPr>
              <a:t> </a:t>
            </a:r>
            <a:r>
              <a:rPr sz="1000" b="1" spc="-10" dirty="0">
                <a:latin typeface="Arial" panose="020B0604020202020204"/>
                <a:cs typeface="Arial" panose="020B0604020202020204"/>
              </a:rPr>
              <a:t>TECHNOLOGY</a:t>
            </a:r>
            <a:endParaRPr sz="1000" dirty="0">
              <a:latin typeface="Arial" panose="020B0604020202020204"/>
              <a:cs typeface="Arial" panose="020B0604020202020204"/>
            </a:endParaRPr>
          </a:p>
        </p:txBody>
      </p:sp>
      <p:sp>
        <p:nvSpPr>
          <p:cNvPr id="4" name="object 4"/>
          <p:cNvSpPr txBox="1"/>
          <p:nvPr/>
        </p:nvSpPr>
        <p:spPr>
          <a:xfrm>
            <a:off x="1836821" y="1037207"/>
            <a:ext cx="4495672" cy="3298339"/>
          </a:xfrm>
          <a:prstGeom prst="rect">
            <a:avLst/>
          </a:prstGeom>
        </p:spPr>
        <p:txBody>
          <a:bodyPr vert="horz" wrap="square" lIns="0" tIns="12700" rIns="0" bIns="0" rtlCol="0">
            <a:spAutoFit/>
          </a:bodyPr>
          <a:lstStyle/>
          <a:p>
            <a:pPr marL="457200" indent="-444500">
              <a:lnSpc>
                <a:spcPct val="150000"/>
              </a:lnSpc>
              <a:spcBef>
                <a:spcPts val="100"/>
              </a:spcBef>
              <a:buFontTx/>
              <a:buAutoNum type="arabicPeriod"/>
              <a:tabLst>
                <a:tab pos="457200" algn="l"/>
              </a:tabLst>
            </a:pPr>
            <a:r>
              <a:rPr lang="en-IN" spc="-1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Abstract </a:t>
            </a:r>
          </a:p>
          <a:p>
            <a:pPr marL="457200" indent="-444500">
              <a:lnSpc>
                <a:spcPct val="150000"/>
              </a:lnSpc>
              <a:spcBef>
                <a:spcPts val="100"/>
              </a:spcBef>
              <a:buFontTx/>
              <a:buAutoNum type="arabicPeriod"/>
              <a:tabLst>
                <a:tab pos="457200" algn="l"/>
              </a:tabLst>
            </a:pPr>
            <a:r>
              <a:rPr lang="en-IN" spc="-1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Introduction</a:t>
            </a:r>
          </a:p>
          <a:p>
            <a:pPr marL="457200" indent="-444500">
              <a:lnSpc>
                <a:spcPct val="150000"/>
              </a:lnSpc>
              <a:buAutoNum type="arabicPeriod"/>
              <a:tabLst>
                <a:tab pos="457200" algn="l"/>
              </a:tabLst>
            </a:pPr>
            <a:r>
              <a:rPr lang="en-IN"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Literature</a:t>
            </a:r>
            <a:r>
              <a:rPr lang="en-IN" spc="-155"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IN" spc="-1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Survey</a:t>
            </a:r>
            <a:endParaRPr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457200" indent="-444500">
              <a:lnSpc>
                <a:spcPct val="150000"/>
              </a:lnSpc>
              <a:buFontTx/>
              <a:buAutoNum type="arabicPeriod"/>
              <a:tabLst>
                <a:tab pos="457200" algn="l"/>
              </a:tabLst>
            </a:pPr>
            <a:r>
              <a:rPr lang="en-US" altLa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Problem Statement</a:t>
            </a:r>
            <a:endParaRPr lang="en-US"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457200" indent="-444500">
              <a:lnSpc>
                <a:spcPct val="150000"/>
              </a:lnSpc>
              <a:buAutoNum type="arabicPeriod"/>
              <a:tabLst>
                <a:tab pos="457200" algn="l"/>
              </a:tabLst>
            </a:pPr>
            <a:r>
              <a:rPr lang="en-US" altLang="" spc="-1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Objective</a:t>
            </a:r>
          </a:p>
          <a:p>
            <a:pPr marL="457200" indent="-444500">
              <a:lnSpc>
                <a:spcPct val="150000"/>
              </a:lnSpc>
              <a:buFontTx/>
              <a:buAutoNum type="arabicPeriod"/>
              <a:tabLst>
                <a:tab pos="457200" algn="l"/>
              </a:tabLst>
            </a:pPr>
            <a:r>
              <a:rPr lang="en-IN"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Proposed</a:t>
            </a:r>
            <a:r>
              <a:rPr lang="en-IN" spc="-145"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IN" spc="-1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Solution</a:t>
            </a:r>
            <a:endParaRPr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457200" indent="-444500">
              <a:lnSpc>
                <a:spcPct val="150000"/>
              </a:lnSpc>
              <a:buAutoNum type="arabicPeriod"/>
              <a:tabLst>
                <a:tab pos="457200" algn="l"/>
              </a:tabLst>
            </a:pPr>
            <a:r>
              <a:rPr spc="-1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Conclusion</a:t>
            </a:r>
          </a:p>
          <a:p>
            <a:pPr marL="457200" indent="-444500">
              <a:lnSpc>
                <a:spcPct val="150000"/>
              </a:lnSpc>
              <a:buAutoNum type="arabicPeriod"/>
              <a:tabLst>
                <a:tab pos="457200" algn="l"/>
              </a:tabLst>
            </a:pPr>
            <a:r>
              <a:rPr lang="en-US" altLa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References</a:t>
            </a:r>
          </a:p>
        </p:txBody>
      </p:sp>
      <p:sp>
        <p:nvSpPr>
          <p:cNvPr id="6" name="TextBox 5">
            <a:extLst>
              <a:ext uri="{FF2B5EF4-FFF2-40B4-BE49-F238E27FC236}">
                <a16:creationId xmlns:a16="http://schemas.microsoft.com/office/drawing/2014/main" id="{690DC1D4-D4BD-FC46-FF74-EBCE4BB364EF}"/>
              </a:ext>
            </a:extLst>
          </p:cNvPr>
          <p:cNvSpPr txBox="1"/>
          <p:nvPr/>
        </p:nvSpPr>
        <p:spPr>
          <a:xfrm>
            <a:off x="3951958" y="276750"/>
            <a:ext cx="1240083" cy="369332"/>
          </a:xfrm>
          <a:prstGeom prst="rect">
            <a:avLst/>
          </a:prstGeom>
          <a:noFill/>
        </p:spPr>
        <p:txBody>
          <a:bodyPr wrap="none" rtlCol="0">
            <a:spAutoFit/>
          </a:bodyPr>
          <a:lstStyle/>
          <a:p>
            <a:r>
              <a:rPr lang="en-IN" sz="1800" b="1" u="sng" spc="-1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OUTLINE</a:t>
            </a:r>
            <a:endParaRPr lang="en-IN"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67243" y="481397"/>
            <a:ext cx="1409514" cy="289823"/>
          </a:xfrm>
          <a:prstGeom prst="rect">
            <a:avLst/>
          </a:prstGeom>
        </p:spPr>
        <p:txBody>
          <a:bodyPr vert="horz" wrap="square" lIns="0" tIns="12700" rIns="0" bIns="0" rtlCol="0">
            <a:spAutoFit/>
          </a:bodyPr>
          <a:lstStyle/>
          <a:p>
            <a:pPr marL="12700">
              <a:lnSpc>
                <a:spcPct val="100000"/>
              </a:lnSpc>
              <a:spcBef>
                <a:spcPts val="100"/>
              </a:spcBef>
            </a:pPr>
            <a:r>
              <a:rPr b="1" u="sng" spc="-1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ABSTRACT</a:t>
            </a:r>
            <a:endParaRPr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object 4"/>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4</a:t>
            </a:fld>
            <a:endParaRPr spc="-25"/>
          </a:p>
        </p:txBody>
      </p:sp>
      <p:sp>
        <p:nvSpPr>
          <p:cNvPr id="3" name="object 3"/>
          <p:cNvSpPr txBox="1"/>
          <p:nvPr/>
        </p:nvSpPr>
        <p:spPr>
          <a:xfrm>
            <a:off x="3313244" y="4856806"/>
            <a:ext cx="2959735" cy="177800"/>
          </a:xfrm>
          <a:prstGeom prst="rect">
            <a:avLst/>
          </a:prstGeom>
        </p:spPr>
        <p:txBody>
          <a:bodyPr vert="horz" wrap="square" lIns="0" tIns="12700" rIns="0" bIns="0" rtlCol="0">
            <a:spAutoFit/>
          </a:bodyPr>
          <a:lstStyle/>
          <a:p>
            <a:pPr marL="12700">
              <a:lnSpc>
                <a:spcPct val="100000"/>
              </a:lnSpc>
              <a:spcBef>
                <a:spcPts val="100"/>
              </a:spcBef>
            </a:pPr>
            <a:r>
              <a:rPr sz="1000" b="1" spc="-20">
                <a:latin typeface="Arial" panose="020B0604020202020204"/>
                <a:cs typeface="Arial" panose="020B0604020202020204"/>
              </a:rPr>
              <a:t>DEPARTMENT</a:t>
            </a:r>
            <a:r>
              <a:rPr sz="1000" b="1" spc="20">
                <a:latin typeface="Arial" panose="020B0604020202020204"/>
                <a:cs typeface="Arial" panose="020B0604020202020204"/>
              </a:rPr>
              <a:t> </a:t>
            </a:r>
            <a:r>
              <a:rPr sz="1000" b="1">
                <a:latin typeface="Arial" panose="020B0604020202020204"/>
                <a:cs typeface="Arial" panose="020B0604020202020204"/>
              </a:rPr>
              <a:t>OF</a:t>
            </a:r>
            <a:r>
              <a:rPr sz="1000" b="1" spc="25">
                <a:latin typeface="Arial" panose="020B0604020202020204"/>
                <a:cs typeface="Arial" panose="020B0604020202020204"/>
              </a:rPr>
              <a:t> </a:t>
            </a:r>
            <a:r>
              <a:rPr sz="1000" b="1" spc="-20">
                <a:latin typeface="Arial" panose="020B0604020202020204"/>
                <a:cs typeface="Arial" panose="020B0604020202020204"/>
              </a:rPr>
              <a:t>INFORMATION</a:t>
            </a:r>
            <a:r>
              <a:rPr sz="1000" b="1" spc="20">
                <a:latin typeface="Arial" panose="020B0604020202020204"/>
                <a:cs typeface="Arial" panose="020B0604020202020204"/>
              </a:rPr>
              <a:t> </a:t>
            </a:r>
            <a:r>
              <a:rPr sz="1000" b="1" spc="-10">
                <a:latin typeface="Arial" panose="020B0604020202020204"/>
                <a:cs typeface="Arial" panose="020B0604020202020204"/>
              </a:rPr>
              <a:t>TECHNOLOGY</a:t>
            </a:r>
            <a:endParaRPr sz="1000">
              <a:latin typeface="Arial" panose="020B0604020202020204"/>
              <a:cs typeface="Arial" panose="020B0604020202020204"/>
            </a:endParaRPr>
          </a:p>
        </p:txBody>
      </p:sp>
      <p:sp>
        <p:nvSpPr>
          <p:cNvPr id="6" name="TextBox 5">
            <a:extLst>
              <a:ext uri="{FF2B5EF4-FFF2-40B4-BE49-F238E27FC236}">
                <a16:creationId xmlns:a16="http://schemas.microsoft.com/office/drawing/2014/main" id="{0D265579-999A-F0F8-85DD-F94F3FF04585}"/>
              </a:ext>
            </a:extLst>
          </p:cNvPr>
          <p:cNvSpPr txBox="1"/>
          <p:nvPr/>
        </p:nvSpPr>
        <p:spPr>
          <a:xfrm>
            <a:off x="1028700" y="1255748"/>
            <a:ext cx="6835140" cy="2314544"/>
          </a:xfrm>
          <a:prstGeom prst="rect">
            <a:avLst/>
          </a:prstGeom>
          <a:noFill/>
        </p:spPr>
        <p:txBody>
          <a:bodyPr wrap="square" rtlCol="0">
            <a:spAutoFit/>
          </a:bodyPr>
          <a:lstStyle/>
          <a:p>
            <a:pPr algn="just">
              <a:lnSpc>
                <a:spcPct val="150000"/>
              </a:lnSpc>
            </a:pPr>
            <a:r>
              <a:rPr lang="en-US" sz="1400" dirty="0"/>
              <a:t>Stress and mental health issues are rising due to academic, workplace, and lifestyle pressures, making early detection essential. This project proposes a Machine Learning–based system to identify stress levels from relevant data patterns. To address the limitations of black-box models, </a:t>
            </a:r>
            <a:r>
              <a:rPr lang="en-US" sz="1400" dirty="0">
                <a:latin typeface="Arial" panose="020B0604020202020204" pitchFamily="34" charset="0"/>
                <a:cs typeface="Arial" panose="020B0604020202020204" pitchFamily="34" charset="0"/>
              </a:rPr>
              <a:t>Explainable</a:t>
            </a:r>
            <a:r>
              <a:rPr lang="en-US" sz="1400" dirty="0"/>
              <a:t> AI (XAI) techniques such as LIME and SHAP are used to provide clear and interpretable predictions. The system aims to deliver accurate, transparent, and ethical stress detection for reliable mental health monitoring.</a:t>
            </a:r>
            <a:endParaRPr lang="en-IN"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604811" y="416312"/>
            <a:ext cx="1934378" cy="289823"/>
          </a:xfrm>
          <a:prstGeom prst="rect">
            <a:avLst/>
          </a:prstGeom>
        </p:spPr>
        <p:txBody>
          <a:bodyPr vert="horz" wrap="square" lIns="0" tIns="12700" rIns="0" bIns="0" rtlCol="0">
            <a:spAutoFit/>
          </a:bodyPr>
          <a:lstStyle/>
          <a:p>
            <a:pPr marL="12700">
              <a:lnSpc>
                <a:spcPct val="100000"/>
              </a:lnSpc>
              <a:spcBef>
                <a:spcPts val="100"/>
              </a:spcBef>
            </a:pPr>
            <a:r>
              <a:rPr b="1" u="sng" spc="-1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endParaRPr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object 4"/>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5</a:t>
            </a:fld>
            <a:endParaRPr spc="-25"/>
          </a:p>
        </p:txBody>
      </p:sp>
      <p:sp>
        <p:nvSpPr>
          <p:cNvPr id="3" name="object 3"/>
          <p:cNvSpPr txBox="1"/>
          <p:nvPr/>
        </p:nvSpPr>
        <p:spPr>
          <a:xfrm>
            <a:off x="3092132" y="4749503"/>
            <a:ext cx="2959735" cy="238760"/>
          </a:xfrm>
          <a:prstGeom prst="rect">
            <a:avLst/>
          </a:prstGeom>
        </p:spPr>
        <p:txBody>
          <a:bodyPr vert="horz" wrap="square" lIns="0" tIns="12700" rIns="0" bIns="0" rtlCol="0">
            <a:noAutofit/>
          </a:bodyPr>
          <a:lstStyle/>
          <a:p>
            <a:pPr marL="12700">
              <a:lnSpc>
                <a:spcPct val="100000"/>
              </a:lnSpc>
              <a:spcBef>
                <a:spcPts val="100"/>
              </a:spcBef>
            </a:pPr>
            <a:r>
              <a:rPr sz="1000" b="1" spc="-20" dirty="0">
                <a:latin typeface="Arial" panose="020B0604020202020204"/>
                <a:cs typeface="Arial" panose="020B0604020202020204"/>
              </a:rPr>
              <a:t>DEPARTMENT</a:t>
            </a:r>
            <a:r>
              <a:rPr sz="1000" b="1" spc="20" dirty="0">
                <a:latin typeface="Arial" panose="020B0604020202020204"/>
                <a:cs typeface="Arial" panose="020B0604020202020204"/>
              </a:rPr>
              <a:t> </a:t>
            </a:r>
            <a:r>
              <a:rPr sz="1000" b="1" dirty="0">
                <a:latin typeface="Arial" panose="020B0604020202020204"/>
                <a:cs typeface="Arial" panose="020B0604020202020204"/>
              </a:rPr>
              <a:t>OF</a:t>
            </a:r>
            <a:r>
              <a:rPr sz="1000" b="1" spc="25" dirty="0">
                <a:latin typeface="Arial" panose="020B0604020202020204"/>
                <a:cs typeface="Arial" panose="020B0604020202020204"/>
              </a:rPr>
              <a:t> </a:t>
            </a:r>
            <a:r>
              <a:rPr sz="1000" b="1" spc="-20" dirty="0">
                <a:latin typeface="Arial" panose="020B0604020202020204"/>
                <a:cs typeface="Arial" panose="020B0604020202020204"/>
              </a:rPr>
              <a:t>INFORMATION</a:t>
            </a:r>
            <a:r>
              <a:rPr sz="1000" b="1" spc="20" dirty="0">
                <a:latin typeface="Arial" panose="020B0604020202020204"/>
                <a:cs typeface="Arial" panose="020B0604020202020204"/>
              </a:rPr>
              <a:t> </a:t>
            </a:r>
            <a:r>
              <a:rPr sz="1000" b="1" spc="-10" dirty="0">
                <a:latin typeface="Arial" panose="020B0604020202020204"/>
                <a:cs typeface="Arial" panose="020B0604020202020204"/>
              </a:rPr>
              <a:t>TECHNOLOGY</a:t>
            </a:r>
            <a:endParaRPr sz="1000" dirty="0">
              <a:latin typeface="Arial" panose="020B0604020202020204"/>
              <a:cs typeface="Arial" panose="020B0604020202020204"/>
            </a:endParaRPr>
          </a:p>
        </p:txBody>
      </p:sp>
      <p:sp>
        <p:nvSpPr>
          <p:cNvPr id="5" name="Rectangles 4"/>
          <p:cNvSpPr/>
          <p:nvPr/>
        </p:nvSpPr>
        <p:spPr>
          <a:xfrm>
            <a:off x="779780" y="640414"/>
            <a:ext cx="6831965" cy="3672840"/>
          </a:xfrm>
          <a:prstGeom prst="rect">
            <a:avLst/>
          </a:prstGeom>
          <a:noFill/>
        </p:spPr>
        <p:style>
          <a:lnRef idx="0">
            <a:srgbClr val="FFFFFF"/>
          </a:lnRef>
          <a:fillRef idx="1">
            <a:schemeClr val="accent1"/>
          </a:fillRef>
          <a:effectRef idx="0">
            <a:srgbClr val="FFFFFF"/>
          </a:effectRef>
          <a:fontRef idx="minor">
            <a:schemeClr val="lt1"/>
          </a:fontRef>
        </p:style>
        <p:txBody>
          <a:bodyPr rtlCol="0" anchor="ctr"/>
          <a:lstStyle/>
          <a:p>
            <a:pPr algn="ctr"/>
            <a:endParaRPr lang="en-US"/>
          </a:p>
        </p:txBody>
      </p:sp>
      <p:sp>
        <p:nvSpPr>
          <p:cNvPr id="7" name="Rectangle 2">
            <a:extLst>
              <a:ext uri="{FF2B5EF4-FFF2-40B4-BE49-F238E27FC236}">
                <a16:creationId xmlns:a16="http://schemas.microsoft.com/office/drawing/2014/main" id="{718ADB4A-E872-D48F-2B80-1C997248A029}"/>
              </a:ext>
            </a:extLst>
          </p:cNvPr>
          <p:cNvSpPr>
            <a:spLocks noChangeArrowheads="1"/>
          </p:cNvSpPr>
          <p:nvPr/>
        </p:nvSpPr>
        <p:spPr bwMode="auto">
          <a:xfrm>
            <a:off x="600178" y="1576060"/>
            <a:ext cx="7414193" cy="1991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Arial" panose="020B0604020202020204" pitchFamily="34" charset="0"/>
              </a:rPr>
              <a:t>Rising academic, workplace, and lifestyle pressures are increasing stress, making early detection crucial for preventing serious health issues.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Arial" panose="020B0604020202020204" pitchFamily="34" charset="0"/>
              </a:rPr>
              <a:t>Data from digital platforms and wearable devices enables large-scale stress analysis.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Arial" panose="020B0604020202020204" pitchFamily="34" charset="0"/>
              </a:rPr>
              <a:t>Machine Learning can detect stress patterns but often lacks transparency.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Arial" panose="020B0604020202020204" pitchFamily="34" charset="0"/>
              </a:rPr>
              <a:t>Explainable AI enhances trust by making predictions understandable, supporting an accurate and ethical stress detection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764B9-0827-B516-35B6-DD2451CFB62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7B6885A-82DB-EDE8-6597-3EF5A96E890C}"/>
              </a:ext>
            </a:extLst>
          </p:cNvPr>
          <p:cNvSpPr txBox="1">
            <a:spLocks noGrp="1"/>
          </p:cNvSpPr>
          <p:nvPr>
            <p:ph type="title"/>
          </p:nvPr>
        </p:nvSpPr>
        <p:spPr>
          <a:xfrm>
            <a:off x="2971596" y="281981"/>
            <a:ext cx="2514804" cy="289823"/>
          </a:xfrm>
          <a:prstGeom prst="rect">
            <a:avLst/>
          </a:prstGeom>
        </p:spPr>
        <p:txBody>
          <a:bodyPr vert="horz" wrap="square" lIns="0" tIns="12700" rIns="0" bIns="0" rtlCol="0">
            <a:spAutoFit/>
          </a:bodyPr>
          <a:lstStyle/>
          <a:p>
            <a:pPr marL="12700">
              <a:lnSpc>
                <a:spcPct val="100000"/>
              </a:lnSpc>
              <a:spcBef>
                <a:spcPts val="100"/>
              </a:spcBef>
            </a:pPr>
            <a:r>
              <a:rPr sz="1800" u="sng" spc="-5"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LITERATURE</a:t>
            </a:r>
            <a:r>
              <a:rPr sz="1800" u="sng" spc="-8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1800" u="sng" spc="-5"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SURVEY</a:t>
            </a:r>
          </a:p>
        </p:txBody>
      </p:sp>
      <p:sp>
        <p:nvSpPr>
          <p:cNvPr id="5" name="object 5">
            <a:extLst>
              <a:ext uri="{FF2B5EF4-FFF2-40B4-BE49-F238E27FC236}">
                <a16:creationId xmlns:a16="http://schemas.microsoft.com/office/drawing/2014/main" id="{76F67FF0-BB1F-2153-F6D6-595277E3225C}"/>
              </a:ext>
            </a:extLst>
          </p:cNvPr>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dirty="0"/>
              <a:t>6</a:t>
            </a:fld>
            <a:endParaRPr dirty="0"/>
          </a:p>
        </p:txBody>
      </p:sp>
      <p:sp>
        <p:nvSpPr>
          <p:cNvPr id="4" name="object 4">
            <a:extLst>
              <a:ext uri="{FF2B5EF4-FFF2-40B4-BE49-F238E27FC236}">
                <a16:creationId xmlns:a16="http://schemas.microsoft.com/office/drawing/2014/main" id="{E11E8DB8-42A7-E5D6-AFDA-4089D338A035}"/>
              </a:ext>
            </a:extLst>
          </p:cNvPr>
          <p:cNvSpPr txBox="1"/>
          <p:nvPr/>
        </p:nvSpPr>
        <p:spPr>
          <a:xfrm>
            <a:off x="3093720" y="4856806"/>
            <a:ext cx="2956560" cy="166712"/>
          </a:xfrm>
          <a:prstGeom prst="rect">
            <a:avLst/>
          </a:prstGeom>
        </p:spPr>
        <p:txBody>
          <a:bodyPr vert="horz" wrap="square" lIns="0" tIns="12700" rIns="0" bIns="0" rtlCol="0">
            <a:spAutoFit/>
          </a:bodyPr>
          <a:lstStyle/>
          <a:p>
            <a:pPr marL="12700">
              <a:lnSpc>
                <a:spcPct val="100000"/>
              </a:lnSpc>
              <a:spcBef>
                <a:spcPts val="100"/>
              </a:spcBef>
            </a:pPr>
            <a:r>
              <a:rPr sz="1000" b="1" spc="-5" dirty="0">
                <a:latin typeface="Arial MT"/>
                <a:cs typeface="Arial MT"/>
              </a:rPr>
              <a:t>DEPARTMENT</a:t>
            </a:r>
            <a:r>
              <a:rPr sz="1000" b="1" spc="-30" dirty="0">
                <a:latin typeface="Arial MT"/>
                <a:cs typeface="Arial MT"/>
              </a:rPr>
              <a:t> </a:t>
            </a:r>
            <a:r>
              <a:rPr sz="1000" b="1" spc="-5" dirty="0">
                <a:latin typeface="Arial MT"/>
                <a:cs typeface="Arial MT"/>
              </a:rPr>
              <a:t>OF</a:t>
            </a:r>
            <a:r>
              <a:rPr sz="1000" b="1" spc="-25" dirty="0">
                <a:latin typeface="Arial MT"/>
                <a:cs typeface="Arial MT"/>
              </a:rPr>
              <a:t> </a:t>
            </a:r>
            <a:r>
              <a:rPr sz="1000" b="1" spc="-5" dirty="0">
                <a:latin typeface="Arial MT"/>
                <a:cs typeface="Arial MT"/>
              </a:rPr>
              <a:t>INFORMATION</a:t>
            </a:r>
            <a:r>
              <a:rPr sz="1000" b="1" spc="-30" dirty="0">
                <a:latin typeface="Arial MT"/>
                <a:cs typeface="Arial MT"/>
              </a:rPr>
              <a:t> </a:t>
            </a:r>
            <a:r>
              <a:rPr sz="1000" b="1" spc="-5" dirty="0">
                <a:latin typeface="Arial MT"/>
                <a:cs typeface="Arial MT"/>
              </a:rPr>
              <a:t>TECHNOLOGY</a:t>
            </a:r>
            <a:endParaRPr sz="1000" b="1" dirty="0">
              <a:latin typeface="Arial MT"/>
              <a:cs typeface="Arial MT"/>
            </a:endParaRPr>
          </a:p>
        </p:txBody>
      </p:sp>
      <p:graphicFrame>
        <p:nvGraphicFramePr>
          <p:cNvPr id="6" name="Table 5">
            <a:extLst>
              <a:ext uri="{FF2B5EF4-FFF2-40B4-BE49-F238E27FC236}">
                <a16:creationId xmlns:a16="http://schemas.microsoft.com/office/drawing/2014/main" id="{C583E37D-9A77-29CA-9621-D1CAF8BBB855}"/>
              </a:ext>
            </a:extLst>
          </p:cNvPr>
          <p:cNvGraphicFramePr>
            <a:graphicFrameLocks noGrp="1"/>
          </p:cNvGraphicFramePr>
          <p:nvPr>
            <p:extLst>
              <p:ext uri="{D42A27DB-BD31-4B8C-83A1-F6EECF244321}">
                <p14:modId xmlns:p14="http://schemas.microsoft.com/office/powerpoint/2010/main" val="2463023278"/>
              </p:ext>
            </p:extLst>
          </p:nvPr>
        </p:nvGraphicFramePr>
        <p:xfrm>
          <a:off x="585114" y="932434"/>
          <a:ext cx="7287768" cy="3754120"/>
        </p:xfrm>
        <a:graphic>
          <a:graphicData uri="http://schemas.openxmlformats.org/drawingml/2006/table">
            <a:tbl>
              <a:tblPr firstRow="1" bandRow="1">
                <a:tableStyleId>{5C22544A-7EE6-4342-B048-85BDC9FD1C3A}</a:tableStyleId>
              </a:tblPr>
              <a:tblGrid>
                <a:gridCol w="1287780">
                  <a:extLst>
                    <a:ext uri="{9D8B030D-6E8A-4147-A177-3AD203B41FA5}">
                      <a16:colId xmlns:a16="http://schemas.microsoft.com/office/drawing/2014/main" val="1977519441"/>
                    </a:ext>
                  </a:extLst>
                </a:gridCol>
                <a:gridCol w="949960">
                  <a:extLst>
                    <a:ext uri="{9D8B030D-6E8A-4147-A177-3AD203B41FA5}">
                      <a16:colId xmlns:a16="http://schemas.microsoft.com/office/drawing/2014/main" val="859183997"/>
                    </a:ext>
                  </a:extLst>
                </a:gridCol>
                <a:gridCol w="1230757">
                  <a:extLst>
                    <a:ext uri="{9D8B030D-6E8A-4147-A177-3AD203B41FA5}">
                      <a16:colId xmlns:a16="http://schemas.microsoft.com/office/drawing/2014/main" val="1390931239"/>
                    </a:ext>
                  </a:extLst>
                </a:gridCol>
                <a:gridCol w="1088263">
                  <a:extLst>
                    <a:ext uri="{9D8B030D-6E8A-4147-A177-3AD203B41FA5}">
                      <a16:colId xmlns:a16="http://schemas.microsoft.com/office/drawing/2014/main" val="858872329"/>
                    </a:ext>
                  </a:extLst>
                </a:gridCol>
                <a:gridCol w="1627632">
                  <a:extLst>
                    <a:ext uri="{9D8B030D-6E8A-4147-A177-3AD203B41FA5}">
                      <a16:colId xmlns:a16="http://schemas.microsoft.com/office/drawing/2014/main" val="3497186849"/>
                    </a:ext>
                  </a:extLst>
                </a:gridCol>
                <a:gridCol w="1103376">
                  <a:extLst>
                    <a:ext uri="{9D8B030D-6E8A-4147-A177-3AD203B41FA5}">
                      <a16:colId xmlns:a16="http://schemas.microsoft.com/office/drawing/2014/main" val="3822258503"/>
                    </a:ext>
                  </a:extLst>
                </a:gridCol>
              </a:tblGrid>
              <a:tr h="370840">
                <a:tc>
                  <a:txBody>
                    <a:bodyPr/>
                    <a:lstStyle/>
                    <a:p>
                      <a:r>
                        <a:rPr lang="en-IN" sz="1200" dirty="0"/>
                        <a:t>Title</a:t>
                      </a:r>
                    </a:p>
                  </a:txBody>
                  <a:tcPr/>
                </a:tc>
                <a:tc>
                  <a:txBody>
                    <a:bodyPr/>
                    <a:lstStyle/>
                    <a:p>
                      <a:r>
                        <a:rPr lang="en-IN" sz="1200" dirty="0"/>
                        <a:t>Authors</a:t>
                      </a:r>
                    </a:p>
                  </a:txBody>
                  <a:tcPr/>
                </a:tc>
                <a:tc>
                  <a:txBody>
                    <a:bodyPr/>
                    <a:lstStyle/>
                    <a:p>
                      <a:r>
                        <a:rPr lang="en-IN" sz="1200" dirty="0"/>
                        <a:t>Algorithms</a:t>
                      </a:r>
                    </a:p>
                  </a:txBody>
                  <a:tcPr/>
                </a:tc>
                <a:tc>
                  <a:txBody>
                    <a:bodyPr/>
                    <a:lstStyle/>
                    <a:p>
                      <a:r>
                        <a:rPr lang="en-IN" sz="1200" dirty="0"/>
                        <a:t>Dataset</a:t>
                      </a:r>
                    </a:p>
                  </a:txBody>
                  <a:tcPr/>
                </a:tc>
                <a:tc>
                  <a:txBody>
                    <a:bodyPr/>
                    <a:lstStyle/>
                    <a:p>
                      <a:r>
                        <a:rPr lang="en-IN" sz="1200" dirty="0"/>
                        <a:t>Summary</a:t>
                      </a:r>
                    </a:p>
                  </a:txBody>
                  <a:tcPr/>
                </a:tc>
                <a:tc>
                  <a:txBody>
                    <a:bodyPr/>
                    <a:lstStyle/>
                    <a:p>
                      <a:r>
                        <a:rPr lang="en-IN" sz="1200" dirty="0"/>
                        <a:t>Paper</a:t>
                      </a:r>
                    </a:p>
                  </a:txBody>
                  <a:tcPr/>
                </a:tc>
                <a:extLst>
                  <a:ext uri="{0D108BD9-81ED-4DB2-BD59-A6C34878D82A}">
                    <a16:rowId xmlns:a16="http://schemas.microsoft.com/office/drawing/2014/main" val="3385354041"/>
                  </a:ext>
                </a:extLst>
              </a:tr>
              <a:tr h="37084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b="0" i="0" dirty="0">
                          <a:solidFill>
                            <a:schemeClr val="dk1"/>
                          </a:solidFill>
                          <a:effectLst/>
                          <a:latin typeface="+mn-lt"/>
                          <a:ea typeface="+mn-ea"/>
                          <a:cs typeface="+mn-cs"/>
                        </a:rPr>
                        <a:t>A Comprehensive Approach to Early Detection of Workplace Stress with Multi-Modal Analysis and Explainable AI</a:t>
                      </a:r>
                      <a:endParaRPr lang="en-IN" sz="1200" dirty="0"/>
                    </a:p>
                  </a:txBody>
                  <a:tcPr/>
                </a:tc>
                <a:tc>
                  <a:txBody>
                    <a:bodyPr/>
                    <a:lstStyle/>
                    <a:p>
                      <a:pPr marL="0" indent="0">
                        <a:buSzPct val="75000"/>
                        <a:buFont typeface="Arial" panose="020B0604020202020204" pitchFamily="34" charset="0"/>
                        <a:buNone/>
                      </a:pPr>
                      <a:r>
                        <a:rPr lang="en-IN" sz="1200" dirty="0" err="1"/>
                        <a:t>Jiblal</a:t>
                      </a:r>
                      <a:r>
                        <a:rPr lang="en-IN" sz="1200" dirty="0"/>
                        <a:t> Upadhya</a:t>
                      </a:r>
                    </a:p>
                    <a:p>
                      <a:pPr marL="0" indent="0">
                        <a:buSzPct val="75000"/>
                        <a:buFont typeface="Arial" panose="020B0604020202020204" pitchFamily="34" charset="0"/>
                        <a:buNone/>
                      </a:pPr>
                      <a:endParaRPr lang="en-IN" sz="1200" dirty="0"/>
                    </a:p>
                    <a:p>
                      <a:pPr marL="0" indent="0">
                        <a:buSzPct val="75000"/>
                        <a:buFont typeface="Arial" panose="020B0604020202020204" pitchFamily="34" charset="0"/>
                        <a:buNone/>
                      </a:pPr>
                      <a:r>
                        <a:rPr lang="en-IN" sz="1200" dirty="0"/>
                        <a:t>Khem Poudel</a:t>
                      </a:r>
                    </a:p>
                    <a:p>
                      <a:pPr marL="0" indent="0">
                        <a:buSzPct val="75000"/>
                        <a:buFont typeface="Arial" panose="020B0604020202020204" pitchFamily="34" charset="0"/>
                        <a:buNone/>
                      </a:pPr>
                      <a:endParaRPr lang="en-IN" sz="1200" dirty="0"/>
                    </a:p>
                    <a:p>
                      <a:pPr marL="0" indent="0">
                        <a:buSzPct val="75000"/>
                        <a:buFont typeface="Arial" panose="020B0604020202020204" pitchFamily="34" charset="0"/>
                        <a:buNone/>
                      </a:pPr>
                      <a:r>
                        <a:rPr lang="en-IN" sz="1200" dirty="0"/>
                        <a:t>Jaishree </a:t>
                      </a:r>
                      <a:r>
                        <a:rPr lang="en-IN" sz="1200" dirty="0" err="1"/>
                        <a:t>Ranganathn</a:t>
                      </a:r>
                      <a:endParaRPr lang="en-IN" sz="1200" dirty="0"/>
                    </a:p>
                  </a:txBody>
                  <a:tcPr/>
                </a:tc>
                <a:tc>
                  <a:txBody>
                    <a:bodyPr/>
                    <a:lstStyle/>
                    <a:p>
                      <a:r>
                        <a:rPr lang="en-US" sz="1200" dirty="0"/>
                        <a:t>Long Short-Term Memory (LSTM) networks</a:t>
                      </a:r>
                    </a:p>
                    <a:p>
                      <a:endParaRPr lang="en-US" sz="1200" dirty="0"/>
                    </a:p>
                    <a:p>
                      <a:r>
                        <a:rPr lang="en-US" sz="1200" dirty="0"/>
                        <a:t>Support Vector Machines (SVM)</a:t>
                      </a:r>
                    </a:p>
                    <a:p>
                      <a:endParaRPr lang="en-US" sz="1200" dirty="0"/>
                    </a:p>
                    <a:p>
                      <a:r>
                        <a:rPr lang="en-US" sz="1200" dirty="0"/>
                        <a:t>Convolutional Neural Networks (CNNs) such as VGG16 and Custom CNN models</a:t>
                      </a:r>
                      <a:endParaRPr lang="en-IN" sz="1200" dirty="0"/>
                    </a:p>
                  </a:txBody>
                  <a:tcPr/>
                </a:tc>
                <a:tc>
                  <a:txBody>
                    <a:bodyPr/>
                    <a:lstStyle/>
                    <a:p>
                      <a:r>
                        <a:rPr lang="en-US" sz="1200" dirty="0"/>
                        <a:t>physiological signals data and facial expression data from the WorkStress3D dataset</a:t>
                      </a:r>
                      <a:endParaRPr lang="en-IN" sz="1200" dirty="0"/>
                    </a:p>
                  </a:txBody>
                  <a:tcPr/>
                </a:tc>
                <a:tc>
                  <a:txBody>
                    <a:bodyPr/>
                    <a:lstStyle/>
                    <a:p>
                      <a:r>
                        <a:rPr lang="en-US" sz="1200" dirty="0"/>
                        <a:t>This work focuses on detecting stress more objectively using physiological signals and facial expressions instead of unreliable self-reports. It explores machine learning models like LSTM, SVM, and CNN to classify stress levels from multimodal data. Additionally, explainable AI tools (SHAP, LIME) are used to ensure transparency and reduce bias in predictions.</a:t>
                      </a:r>
                      <a:endParaRPr lang="en-IN" sz="1200" dirty="0"/>
                    </a:p>
                  </a:txBody>
                  <a:tcPr/>
                </a:tc>
                <a:tc>
                  <a:txBody>
                    <a:bodyPr/>
                    <a:lstStyle/>
                    <a:p>
                      <a:r>
                        <a:rPr lang="en-IN" sz="1200" dirty="0">
                          <a:hlinkClick r:id="rId2"/>
                        </a:rPr>
                        <a:t>https://dl.acm.org/doi/epdf/10.1145/3632634.3655878</a:t>
                      </a:r>
                      <a:endParaRPr lang="en-IN" sz="1200" dirty="0"/>
                    </a:p>
                  </a:txBody>
                  <a:tcPr/>
                </a:tc>
                <a:extLst>
                  <a:ext uri="{0D108BD9-81ED-4DB2-BD59-A6C34878D82A}">
                    <a16:rowId xmlns:a16="http://schemas.microsoft.com/office/drawing/2014/main" val="1480390803"/>
                  </a:ext>
                </a:extLst>
              </a:tr>
            </a:tbl>
          </a:graphicData>
        </a:graphic>
      </p:graphicFrame>
      <p:sp>
        <p:nvSpPr>
          <p:cNvPr id="7" name="TextBox 6">
            <a:extLst>
              <a:ext uri="{FF2B5EF4-FFF2-40B4-BE49-F238E27FC236}">
                <a16:creationId xmlns:a16="http://schemas.microsoft.com/office/drawing/2014/main" id="{387FEFEF-F39F-C481-9EB7-F8A4A1B41ADC}"/>
              </a:ext>
            </a:extLst>
          </p:cNvPr>
          <p:cNvSpPr txBox="1"/>
          <p:nvPr/>
        </p:nvSpPr>
        <p:spPr>
          <a:xfrm>
            <a:off x="208088" y="932434"/>
            <a:ext cx="377026" cy="369332"/>
          </a:xfrm>
          <a:prstGeom prst="rect">
            <a:avLst/>
          </a:prstGeom>
          <a:noFill/>
        </p:spPr>
        <p:txBody>
          <a:bodyPr wrap="none" rtlCol="0">
            <a:spAutoFit/>
          </a:bodyPr>
          <a:lstStyle/>
          <a:p>
            <a:r>
              <a:rPr lang="en-IN" dirty="0"/>
              <a:t>1.</a:t>
            </a:r>
          </a:p>
        </p:txBody>
      </p:sp>
    </p:spTree>
    <p:extLst>
      <p:ext uri="{BB962C8B-B14F-4D97-AF65-F5344CB8AC3E}">
        <p14:creationId xmlns:p14="http://schemas.microsoft.com/office/powerpoint/2010/main" val="2954880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0BC29-2ABE-1117-2A7F-04D1DB3DDE9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12C5FEF-4B45-573D-F981-AA97D0B4D001}"/>
              </a:ext>
            </a:extLst>
          </p:cNvPr>
          <p:cNvSpPr txBox="1">
            <a:spLocks noGrp="1"/>
          </p:cNvSpPr>
          <p:nvPr>
            <p:ph type="title"/>
          </p:nvPr>
        </p:nvSpPr>
        <p:spPr>
          <a:xfrm>
            <a:off x="2971596" y="281981"/>
            <a:ext cx="2514804" cy="289823"/>
          </a:xfrm>
          <a:prstGeom prst="rect">
            <a:avLst/>
          </a:prstGeom>
        </p:spPr>
        <p:txBody>
          <a:bodyPr vert="horz" wrap="square" lIns="0" tIns="12700" rIns="0" bIns="0" rtlCol="0">
            <a:spAutoFit/>
          </a:bodyPr>
          <a:lstStyle/>
          <a:p>
            <a:pPr marL="12700">
              <a:lnSpc>
                <a:spcPct val="100000"/>
              </a:lnSpc>
              <a:spcBef>
                <a:spcPts val="100"/>
              </a:spcBef>
            </a:pPr>
            <a:r>
              <a:rPr sz="1800" u="sng" spc="-5"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LITERATURE</a:t>
            </a:r>
            <a:r>
              <a:rPr sz="1800" u="sng" spc="-8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1800" u="sng" spc="-5"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SURVEY</a:t>
            </a:r>
          </a:p>
        </p:txBody>
      </p:sp>
      <p:sp>
        <p:nvSpPr>
          <p:cNvPr id="5" name="object 5">
            <a:extLst>
              <a:ext uri="{FF2B5EF4-FFF2-40B4-BE49-F238E27FC236}">
                <a16:creationId xmlns:a16="http://schemas.microsoft.com/office/drawing/2014/main" id="{A2D1B698-8A12-1E1D-ECD8-9147164E3ED8}"/>
              </a:ext>
            </a:extLst>
          </p:cNvPr>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dirty="0"/>
              <a:t>7</a:t>
            </a:fld>
            <a:endParaRPr dirty="0"/>
          </a:p>
        </p:txBody>
      </p:sp>
      <p:sp>
        <p:nvSpPr>
          <p:cNvPr id="4" name="object 4">
            <a:extLst>
              <a:ext uri="{FF2B5EF4-FFF2-40B4-BE49-F238E27FC236}">
                <a16:creationId xmlns:a16="http://schemas.microsoft.com/office/drawing/2014/main" id="{D308E1AA-3809-9866-8C25-DE9D78965C84}"/>
              </a:ext>
            </a:extLst>
          </p:cNvPr>
          <p:cNvSpPr txBox="1"/>
          <p:nvPr/>
        </p:nvSpPr>
        <p:spPr>
          <a:xfrm>
            <a:off x="3093720" y="4856806"/>
            <a:ext cx="2956560" cy="166712"/>
          </a:xfrm>
          <a:prstGeom prst="rect">
            <a:avLst/>
          </a:prstGeom>
        </p:spPr>
        <p:txBody>
          <a:bodyPr vert="horz" wrap="square" lIns="0" tIns="12700" rIns="0" bIns="0" rtlCol="0">
            <a:spAutoFit/>
          </a:bodyPr>
          <a:lstStyle/>
          <a:p>
            <a:pPr marL="12700">
              <a:lnSpc>
                <a:spcPct val="100000"/>
              </a:lnSpc>
              <a:spcBef>
                <a:spcPts val="100"/>
              </a:spcBef>
            </a:pPr>
            <a:r>
              <a:rPr sz="1000" b="1" spc="-5" dirty="0">
                <a:latin typeface="Arial MT"/>
                <a:cs typeface="Arial MT"/>
              </a:rPr>
              <a:t>DEPARTMENT</a:t>
            </a:r>
            <a:r>
              <a:rPr sz="1000" b="1" spc="-30" dirty="0">
                <a:latin typeface="Arial MT"/>
                <a:cs typeface="Arial MT"/>
              </a:rPr>
              <a:t> </a:t>
            </a:r>
            <a:r>
              <a:rPr sz="1000" b="1" spc="-5" dirty="0">
                <a:latin typeface="Arial MT"/>
                <a:cs typeface="Arial MT"/>
              </a:rPr>
              <a:t>OF</a:t>
            </a:r>
            <a:r>
              <a:rPr sz="1000" b="1" spc="-25" dirty="0">
                <a:latin typeface="Arial MT"/>
                <a:cs typeface="Arial MT"/>
              </a:rPr>
              <a:t> </a:t>
            </a:r>
            <a:r>
              <a:rPr sz="1000" b="1" spc="-5" dirty="0">
                <a:latin typeface="Arial MT"/>
                <a:cs typeface="Arial MT"/>
              </a:rPr>
              <a:t>INFORMATION</a:t>
            </a:r>
            <a:r>
              <a:rPr sz="1000" b="1" spc="-30" dirty="0">
                <a:latin typeface="Arial MT"/>
                <a:cs typeface="Arial MT"/>
              </a:rPr>
              <a:t> </a:t>
            </a:r>
            <a:r>
              <a:rPr sz="1000" b="1" spc="-5" dirty="0">
                <a:latin typeface="Arial MT"/>
                <a:cs typeface="Arial MT"/>
              </a:rPr>
              <a:t>TECHNOLOGY</a:t>
            </a:r>
            <a:endParaRPr sz="1000" b="1" dirty="0">
              <a:latin typeface="Arial MT"/>
              <a:cs typeface="Arial MT"/>
            </a:endParaRPr>
          </a:p>
        </p:txBody>
      </p:sp>
      <p:graphicFrame>
        <p:nvGraphicFramePr>
          <p:cNvPr id="6" name="Table 5">
            <a:extLst>
              <a:ext uri="{FF2B5EF4-FFF2-40B4-BE49-F238E27FC236}">
                <a16:creationId xmlns:a16="http://schemas.microsoft.com/office/drawing/2014/main" id="{4307BC31-9C11-1B20-F55C-E11821F4B6FF}"/>
              </a:ext>
            </a:extLst>
          </p:cNvPr>
          <p:cNvGraphicFramePr>
            <a:graphicFrameLocks noGrp="1"/>
          </p:cNvGraphicFramePr>
          <p:nvPr>
            <p:extLst>
              <p:ext uri="{D42A27DB-BD31-4B8C-83A1-F6EECF244321}">
                <p14:modId xmlns:p14="http://schemas.microsoft.com/office/powerpoint/2010/main" val="3313481457"/>
              </p:ext>
            </p:extLst>
          </p:nvPr>
        </p:nvGraphicFramePr>
        <p:xfrm>
          <a:off x="585114" y="932434"/>
          <a:ext cx="7287768" cy="3022600"/>
        </p:xfrm>
        <a:graphic>
          <a:graphicData uri="http://schemas.openxmlformats.org/drawingml/2006/table">
            <a:tbl>
              <a:tblPr firstRow="1" bandRow="1">
                <a:tableStyleId>{5C22544A-7EE6-4342-B048-85BDC9FD1C3A}</a:tableStyleId>
              </a:tblPr>
              <a:tblGrid>
                <a:gridCol w="1287780">
                  <a:extLst>
                    <a:ext uri="{9D8B030D-6E8A-4147-A177-3AD203B41FA5}">
                      <a16:colId xmlns:a16="http://schemas.microsoft.com/office/drawing/2014/main" val="1977519441"/>
                    </a:ext>
                  </a:extLst>
                </a:gridCol>
                <a:gridCol w="949960">
                  <a:extLst>
                    <a:ext uri="{9D8B030D-6E8A-4147-A177-3AD203B41FA5}">
                      <a16:colId xmlns:a16="http://schemas.microsoft.com/office/drawing/2014/main" val="859183997"/>
                    </a:ext>
                  </a:extLst>
                </a:gridCol>
                <a:gridCol w="1230757">
                  <a:extLst>
                    <a:ext uri="{9D8B030D-6E8A-4147-A177-3AD203B41FA5}">
                      <a16:colId xmlns:a16="http://schemas.microsoft.com/office/drawing/2014/main" val="1390931239"/>
                    </a:ext>
                  </a:extLst>
                </a:gridCol>
                <a:gridCol w="1088263">
                  <a:extLst>
                    <a:ext uri="{9D8B030D-6E8A-4147-A177-3AD203B41FA5}">
                      <a16:colId xmlns:a16="http://schemas.microsoft.com/office/drawing/2014/main" val="858872329"/>
                    </a:ext>
                  </a:extLst>
                </a:gridCol>
                <a:gridCol w="1627632">
                  <a:extLst>
                    <a:ext uri="{9D8B030D-6E8A-4147-A177-3AD203B41FA5}">
                      <a16:colId xmlns:a16="http://schemas.microsoft.com/office/drawing/2014/main" val="3497186849"/>
                    </a:ext>
                  </a:extLst>
                </a:gridCol>
                <a:gridCol w="1103376">
                  <a:extLst>
                    <a:ext uri="{9D8B030D-6E8A-4147-A177-3AD203B41FA5}">
                      <a16:colId xmlns:a16="http://schemas.microsoft.com/office/drawing/2014/main" val="3822258503"/>
                    </a:ext>
                  </a:extLst>
                </a:gridCol>
              </a:tblGrid>
              <a:tr h="370840">
                <a:tc>
                  <a:txBody>
                    <a:bodyPr/>
                    <a:lstStyle/>
                    <a:p>
                      <a:r>
                        <a:rPr lang="en-IN" sz="1200" dirty="0"/>
                        <a:t>Title</a:t>
                      </a:r>
                    </a:p>
                  </a:txBody>
                  <a:tcPr/>
                </a:tc>
                <a:tc>
                  <a:txBody>
                    <a:bodyPr/>
                    <a:lstStyle/>
                    <a:p>
                      <a:r>
                        <a:rPr lang="en-IN" sz="1200" dirty="0"/>
                        <a:t>Authors</a:t>
                      </a:r>
                    </a:p>
                  </a:txBody>
                  <a:tcPr/>
                </a:tc>
                <a:tc>
                  <a:txBody>
                    <a:bodyPr/>
                    <a:lstStyle/>
                    <a:p>
                      <a:r>
                        <a:rPr lang="en-IN" sz="1200" dirty="0"/>
                        <a:t>Algorithms</a:t>
                      </a:r>
                    </a:p>
                  </a:txBody>
                  <a:tcPr/>
                </a:tc>
                <a:tc>
                  <a:txBody>
                    <a:bodyPr/>
                    <a:lstStyle/>
                    <a:p>
                      <a:r>
                        <a:rPr lang="en-IN" sz="1200" dirty="0"/>
                        <a:t>Dataset</a:t>
                      </a:r>
                    </a:p>
                  </a:txBody>
                  <a:tcPr/>
                </a:tc>
                <a:tc>
                  <a:txBody>
                    <a:bodyPr/>
                    <a:lstStyle/>
                    <a:p>
                      <a:r>
                        <a:rPr lang="en-IN" sz="1200" dirty="0"/>
                        <a:t>Summary</a:t>
                      </a:r>
                    </a:p>
                  </a:txBody>
                  <a:tcPr/>
                </a:tc>
                <a:tc>
                  <a:txBody>
                    <a:bodyPr/>
                    <a:lstStyle/>
                    <a:p>
                      <a:r>
                        <a:rPr lang="en-IN" sz="1200" dirty="0"/>
                        <a:t>Paper</a:t>
                      </a:r>
                    </a:p>
                  </a:txBody>
                  <a:tcPr/>
                </a:tc>
                <a:extLst>
                  <a:ext uri="{0D108BD9-81ED-4DB2-BD59-A6C34878D82A}">
                    <a16:rowId xmlns:a16="http://schemas.microsoft.com/office/drawing/2014/main" val="3385354041"/>
                  </a:ext>
                </a:extLst>
              </a:tr>
              <a:tr h="37084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dirty="0"/>
                        <a:t>Medically oriented design for explainable AI for stress prediction from physiological measurements</a:t>
                      </a:r>
                      <a:endParaRPr lang="en-IN" sz="1200" dirty="0"/>
                    </a:p>
                  </a:txBody>
                  <a:tcPr/>
                </a:tc>
                <a:tc>
                  <a:txBody>
                    <a:bodyPr/>
                    <a:lstStyle/>
                    <a:p>
                      <a:r>
                        <a:rPr lang="en-IN" sz="1200" b="0" dirty="0"/>
                        <a:t>Dalia Jaber</a:t>
                      </a:r>
                    </a:p>
                    <a:p>
                      <a:endParaRPr lang="en-IN" sz="1200" b="0" dirty="0"/>
                    </a:p>
                    <a:p>
                      <a:r>
                        <a:rPr lang="en-IN" sz="1200" b="0" dirty="0"/>
                        <a:t>Hazem Hajj</a:t>
                      </a:r>
                    </a:p>
                    <a:p>
                      <a:endParaRPr lang="en-IN" sz="1200" b="0" dirty="0"/>
                    </a:p>
                    <a:p>
                      <a:r>
                        <a:rPr lang="en-IN" sz="1200" b="0" dirty="0"/>
                        <a:t>Fadi Maalouf</a:t>
                      </a:r>
                    </a:p>
                    <a:p>
                      <a:endParaRPr lang="en-IN" sz="1200" b="0" dirty="0"/>
                    </a:p>
                    <a:p>
                      <a:r>
                        <a:rPr lang="en-IN" sz="1200" b="0" dirty="0"/>
                        <a:t>Wassim ElHajj</a:t>
                      </a:r>
                    </a:p>
                  </a:txBody>
                  <a:tcPr/>
                </a:tc>
                <a:tc>
                  <a:txBody>
                    <a:bodyPr/>
                    <a:lstStyle/>
                    <a:p>
                      <a:r>
                        <a:rPr lang="en-IN" sz="1200" dirty="0"/>
                        <a:t>Random Forest Classifier</a:t>
                      </a:r>
                    </a:p>
                    <a:p>
                      <a:endParaRPr lang="en-US" sz="1200" dirty="0"/>
                    </a:p>
                    <a:p>
                      <a:r>
                        <a:rPr lang="en-IN" sz="1200" dirty="0"/>
                        <a:t>Shapley Additive Explanations (SHAP)</a:t>
                      </a:r>
                      <a:endParaRPr lang="en-US" sz="1200" dirty="0"/>
                    </a:p>
                  </a:txBody>
                  <a:tcPr/>
                </a:tc>
                <a:tc>
                  <a:txBody>
                    <a:bodyPr/>
                    <a:lstStyle/>
                    <a:p>
                      <a:r>
                        <a:rPr lang="en-US" sz="1200" dirty="0"/>
                        <a:t>Wearable Stress and Affect Detection dataset (</a:t>
                      </a:r>
                      <a:r>
                        <a:rPr lang="en-IN" sz="1200" dirty="0"/>
                        <a:t>WESAD)</a:t>
                      </a:r>
                    </a:p>
                  </a:txBody>
                  <a:tcPr/>
                </a:tc>
                <a:tc>
                  <a:txBody>
                    <a:bodyPr/>
                    <a:lstStyle/>
                    <a:p>
                      <a:r>
                        <a:rPr lang="en-US" sz="1200" dirty="0"/>
                        <a:t>The paper presents an explainable AI system for stress prediction using physiological data. It uses a Random Forest model with SHAP to explain predictions and reference intervals to show normal vs abnormal values, making the results more interpretable and trustworthy.</a:t>
                      </a:r>
                      <a:endParaRPr lang="en-IN" sz="1200" dirty="0"/>
                    </a:p>
                  </a:txBody>
                  <a:tcPr/>
                </a:tc>
                <a:tc>
                  <a:txBody>
                    <a:bodyPr/>
                    <a:lstStyle/>
                    <a:p>
                      <a:r>
                        <a:rPr lang="en-IN" sz="1200" dirty="0">
                          <a:hlinkClick r:id="rId2"/>
                        </a:rPr>
                        <a:t>https://link.springer.com/article/10.1186/s12911-022-01772-2#Abs1</a:t>
                      </a:r>
                      <a:endParaRPr lang="en-IN" sz="1200" dirty="0"/>
                    </a:p>
                  </a:txBody>
                  <a:tcPr/>
                </a:tc>
                <a:extLst>
                  <a:ext uri="{0D108BD9-81ED-4DB2-BD59-A6C34878D82A}">
                    <a16:rowId xmlns:a16="http://schemas.microsoft.com/office/drawing/2014/main" val="1480390803"/>
                  </a:ext>
                </a:extLst>
              </a:tr>
            </a:tbl>
          </a:graphicData>
        </a:graphic>
      </p:graphicFrame>
      <p:sp>
        <p:nvSpPr>
          <p:cNvPr id="7" name="TextBox 6">
            <a:extLst>
              <a:ext uri="{FF2B5EF4-FFF2-40B4-BE49-F238E27FC236}">
                <a16:creationId xmlns:a16="http://schemas.microsoft.com/office/drawing/2014/main" id="{BCC49584-D19E-2EEA-4C07-664867B639CD}"/>
              </a:ext>
            </a:extLst>
          </p:cNvPr>
          <p:cNvSpPr txBox="1"/>
          <p:nvPr/>
        </p:nvSpPr>
        <p:spPr>
          <a:xfrm>
            <a:off x="208088" y="932434"/>
            <a:ext cx="377026" cy="369332"/>
          </a:xfrm>
          <a:prstGeom prst="rect">
            <a:avLst/>
          </a:prstGeom>
          <a:noFill/>
        </p:spPr>
        <p:txBody>
          <a:bodyPr wrap="none" rtlCol="0">
            <a:spAutoFit/>
          </a:bodyPr>
          <a:lstStyle/>
          <a:p>
            <a:r>
              <a:rPr lang="en-IN" dirty="0"/>
              <a:t>2.</a:t>
            </a:r>
          </a:p>
        </p:txBody>
      </p:sp>
    </p:spTree>
    <p:extLst>
      <p:ext uri="{BB962C8B-B14F-4D97-AF65-F5344CB8AC3E}">
        <p14:creationId xmlns:p14="http://schemas.microsoft.com/office/powerpoint/2010/main" val="2458325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9749D-F889-D478-9E99-6DDDE00AFC9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C90C549-EE78-4C73-FA0A-5D8031308A2E}"/>
              </a:ext>
            </a:extLst>
          </p:cNvPr>
          <p:cNvSpPr txBox="1">
            <a:spLocks noGrp="1"/>
          </p:cNvSpPr>
          <p:nvPr>
            <p:ph type="title"/>
          </p:nvPr>
        </p:nvSpPr>
        <p:spPr>
          <a:xfrm>
            <a:off x="2971596" y="281981"/>
            <a:ext cx="2514804" cy="289823"/>
          </a:xfrm>
          <a:prstGeom prst="rect">
            <a:avLst/>
          </a:prstGeom>
        </p:spPr>
        <p:txBody>
          <a:bodyPr vert="horz" wrap="square" lIns="0" tIns="12700" rIns="0" bIns="0" rtlCol="0">
            <a:spAutoFit/>
          </a:bodyPr>
          <a:lstStyle/>
          <a:p>
            <a:pPr marL="12700">
              <a:lnSpc>
                <a:spcPct val="100000"/>
              </a:lnSpc>
              <a:spcBef>
                <a:spcPts val="100"/>
              </a:spcBef>
            </a:pPr>
            <a:r>
              <a:rPr sz="1800" u="sng" spc="-5"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LITERATURE</a:t>
            </a:r>
            <a:r>
              <a:rPr sz="1800" u="sng" spc="-8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1800" u="sng" spc="-5"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SURVEY</a:t>
            </a:r>
          </a:p>
        </p:txBody>
      </p:sp>
      <p:sp>
        <p:nvSpPr>
          <p:cNvPr id="5" name="object 5">
            <a:extLst>
              <a:ext uri="{FF2B5EF4-FFF2-40B4-BE49-F238E27FC236}">
                <a16:creationId xmlns:a16="http://schemas.microsoft.com/office/drawing/2014/main" id="{114F9C26-4A3B-0566-BA5C-AA81DD7C67AB}"/>
              </a:ext>
            </a:extLst>
          </p:cNvPr>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dirty="0"/>
              <a:t>8</a:t>
            </a:fld>
            <a:endParaRPr dirty="0"/>
          </a:p>
        </p:txBody>
      </p:sp>
      <p:sp>
        <p:nvSpPr>
          <p:cNvPr id="4" name="object 4">
            <a:extLst>
              <a:ext uri="{FF2B5EF4-FFF2-40B4-BE49-F238E27FC236}">
                <a16:creationId xmlns:a16="http://schemas.microsoft.com/office/drawing/2014/main" id="{A8E2BEBB-36BD-DD6D-787B-065620258745}"/>
              </a:ext>
            </a:extLst>
          </p:cNvPr>
          <p:cNvSpPr txBox="1"/>
          <p:nvPr/>
        </p:nvSpPr>
        <p:spPr>
          <a:xfrm>
            <a:off x="3093720" y="4856806"/>
            <a:ext cx="2956560" cy="166712"/>
          </a:xfrm>
          <a:prstGeom prst="rect">
            <a:avLst/>
          </a:prstGeom>
        </p:spPr>
        <p:txBody>
          <a:bodyPr vert="horz" wrap="square" lIns="0" tIns="12700" rIns="0" bIns="0" rtlCol="0">
            <a:spAutoFit/>
          </a:bodyPr>
          <a:lstStyle/>
          <a:p>
            <a:pPr marL="12700">
              <a:lnSpc>
                <a:spcPct val="100000"/>
              </a:lnSpc>
              <a:spcBef>
                <a:spcPts val="100"/>
              </a:spcBef>
            </a:pPr>
            <a:r>
              <a:rPr sz="1000" b="1" spc="-5" dirty="0">
                <a:latin typeface="Arial MT"/>
                <a:cs typeface="Arial MT"/>
              </a:rPr>
              <a:t>DEPARTMENT</a:t>
            </a:r>
            <a:r>
              <a:rPr sz="1000" b="1" spc="-30" dirty="0">
                <a:latin typeface="Arial MT"/>
                <a:cs typeface="Arial MT"/>
              </a:rPr>
              <a:t> </a:t>
            </a:r>
            <a:r>
              <a:rPr sz="1000" b="1" spc="-5" dirty="0">
                <a:latin typeface="Arial MT"/>
                <a:cs typeface="Arial MT"/>
              </a:rPr>
              <a:t>OF</a:t>
            </a:r>
            <a:r>
              <a:rPr sz="1000" b="1" spc="-25" dirty="0">
                <a:latin typeface="Arial MT"/>
                <a:cs typeface="Arial MT"/>
              </a:rPr>
              <a:t> </a:t>
            </a:r>
            <a:r>
              <a:rPr sz="1000" b="1" spc="-5" dirty="0">
                <a:latin typeface="Arial MT"/>
                <a:cs typeface="Arial MT"/>
              </a:rPr>
              <a:t>INFORMATION</a:t>
            </a:r>
            <a:r>
              <a:rPr sz="1000" b="1" spc="-30" dirty="0">
                <a:latin typeface="Arial MT"/>
                <a:cs typeface="Arial MT"/>
              </a:rPr>
              <a:t> </a:t>
            </a:r>
            <a:r>
              <a:rPr sz="1000" b="1" spc="-5" dirty="0">
                <a:latin typeface="Arial MT"/>
                <a:cs typeface="Arial MT"/>
              </a:rPr>
              <a:t>TECHNOLOGY</a:t>
            </a:r>
            <a:endParaRPr sz="1000" b="1" dirty="0">
              <a:latin typeface="Arial MT"/>
              <a:cs typeface="Arial MT"/>
            </a:endParaRPr>
          </a:p>
        </p:txBody>
      </p:sp>
      <p:graphicFrame>
        <p:nvGraphicFramePr>
          <p:cNvPr id="6" name="Table 5">
            <a:extLst>
              <a:ext uri="{FF2B5EF4-FFF2-40B4-BE49-F238E27FC236}">
                <a16:creationId xmlns:a16="http://schemas.microsoft.com/office/drawing/2014/main" id="{E85A8686-5E1B-5ABA-3D6D-B5F04EA93DD7}"/>
              </a:ext>
            </a:extLst>
          </p:cNvPr>
          <p:cNvGraphicFramePr>
            <a:graphicFrameLocks noGrp="1"/>
          </p:cNvGraphicFramePr>
          <p:nvPr>
            <p:extLst>
              <p:ext uri="{D42A27DB-BD31-4B8C-83A1-F6EECF244321}">
                <p14:modId xmlns:p14="http://schemas.microsoft.com/office/powerpoint/2010/main" val="2395216017"/>
              </p:ext>
            </p:extLst>
          </p:nvPr>
        </p:nvGraphicFramePr>
        <p:xfrm>
          <a:off x="585114" y="932434"/>
          <a:ext cx="7287768" cy="3754120"/>
        </p:xfrm>
        <a:graphic>
          <a:graphicData uri="http://schemas.openxmlformats.org/drawingml/2006/table">
            <a:tbl>
              <a:tblPr firstRow="1" bandRow="1">
                <a:tableStyleId>{5C22544A-7EE6-4342-B048-85BDC9FD1C3A}</a:tableStyleId>
              </a:tblPr>
              <a:tblGrid>
                <a:gridCol w="1287780">
                  <a:extLst>
                    <a:ext uri="{9D8B030D-6E8A-4147-A177-3AD203B41FA5}">
                      <a16:colId xmlns:a16="http://schemas.microsoft.com/office/drawing/2014/main" val="1977519441"/>
                    </a:ext>
                  </a:extLst>
                </a:gridCol>
                <a:gridCol w="949960">
                  <a:extLst>
                    <a:ext uri="{9D8B030D-6E8A-4147-A177-3AD203B41FA5}">
                      <a16:colId xmlns:a16="http://schemas.microsoft.com/office/drawing/2014/main" val="859183997"/>
                    </a:ext>
                  </a:extLst>
                </a:gridCol>
                <a:gridCol w="1230757">
                  <a:extLst>
                    <a:ext uri="{9D8B030D-6E8A-4147-A177-3AD203B41FA5}">
                      <a16:colId xmlns:a16="http://schemas.microsoft.com/office/drawing/2014/main" val="1390931239"/>
                    </a:ext>
                  </a:extLst>
                </a:gridCol>
                <a:gridCol w="1088263">
                  <a:extLst>
                    <a:ext uri="{9D8B030D-6E8A-4147-A177-3AD203B41FA5}">
                      <a16:colId xmlns:a16="http://schemas.microsoft.com/office/drawing/2014/main" val="858872329"/>
                    </a:ext>
                  </a:extLst>
                </a:gridCol>
                <a:gridCol w="1627632">
                  <a:extLst>
                    <a:ext uri="{9D8B030D-6E8A-4147-A177-3AD203B41FA5}">
                      <a16:colId xmlns:a16="http://schemas.microsoft.com/office/drawing/2014/main" val="3497186849"/>
                    </a:ext>
                  </a:extLst>
                </a:gridCol>
                <a:gridCol w="1103376">
                  <a:extLst>
                    <a:ext uri="{9D8B030D-6E8A-4147-A177-3AD203B41FA5}">
                      <a16:colId xmlns:a16="http://schemas.microsoft.com/office/drawing/2014/main" val="3822258503"/>
                    </a:ext>
                  </a:extLst>
                </a:gridCol>
              </a:tblGrid>
              <a:tr h="370840">
                <a:tc>
                  <a:txBody>
                    <a:bodyPr/>
                    <a:lstStyle/>
                    <a:p>
                      <a:r>
                        <a:rPr lang="en-IN" sz="1200" dirty="0"/>
                        <a:t>Title</a:t>
                      </a:r>
                    </a:p>
                  </a:txBody>
                  <a:tcPr/>
                </a:tc>
                <a:tc>
                  <a:txBody>
                    <a:bodyPr/>
                    <a:lstStyle/>
                    <a:p>
                      <a:r>
                        <a:rPr lang="en-IN" sz="1200" dirty="0"/>
                        <a:t>Authors</a:t>
                      </a:r>
                    </a:p>
                  </a:txBody>
                  <a:tcPr/>
                </a:tc>
                <a:tc>
                  <a:txBody>
                    <a:bodyPr/>
                    <a:lstStyle/>
                    <a:p>
                      <a:r>
                        <a:rPr lang="en-IN" sz="1200" dirty="0"/>
                        <a:t>Algorithms</a:t>
                      </a:r>
                    </a:p>
                  </a:txBody>
                  <a:tcPr/>
                </a:tc>
                <a:tc>
                  <a:txBody>
                    <a:bodyPr/>
                    <a:lstStyle/>
                    <a:p>
                      <a:r>
                        <a:rPr lang="en-IN" sz="1200" dirty="0"/>
                        <a:t>Dataset</a:t>
                      </a:r>
                    </a:p>
                  </a:txBody>
                  <a:tcPr/>
                </a:tc>
                <a:tc>
                  <a:txBody>
                    <a:bodyPr/>
                    <a:lstStyle/>
                    <a:p>
                      <a:r>
                        <a:rPr lang="en-IN" sz="1200" dirty="0"/>
                        <a:t>Summary</a:t>
                      </a:r>
                    </a:p>
                  </a:txBody>
                  <a:tcPr/>
                </a:tc>
                <a:tc>
                  <a:txBody>
                    <a:bodyPr/>
                    <a:lstStyle/>
                    <a:p>
                      <a:r>
                        <a:rPr lang="en-IN" sz="1200" dirty="0"/>
                        <a:t>Paper</a:t>
                      </a:r>
                    </a:p>
                  </a:txBody>
                  <a:tcPr/>
                </a:tc>
                <a:extLst>
                  <a:ext uri="{0D108BD9-81ED-4DB2-BD59-A6C34878D82A}">
                    <a16:rowId xmlns:a16="http://schemas.microsoft.com/office/drawing/2014/main" val="3385354041"/>
                  </a:ext>
                </a:extLst>
              </a:tr>
              <a:tr h="370840">
                <a:tc>
                  <a:txBody>
                    <a:bodyPr/>
                    <a:lstStyle/>
                    <a:p>
                      <a:r>
                        <a:rPr lang="en-US" sz="1200" dirty="0"/>
                        <a:t>Explainable AI models for identifying anxiety and distress in cardiac patients with ICDs</a:t>
                      </a:r>
                      <a:endParaRPr lang="en-US" sz="1200" b="0" i="0" dirty="0">
                        <a:solidFill>
                          <a:schemeClr val="dk1"/>
                        </a:solidFill>
                        <a:effectLst/>
                        <a:latin typeface="+mn-lt"/>
                        <a:ea typeface="+mn-ea"/>
                        <a:cs typeface="+mn-cs"/>
                      </a:endParaRPr>
                    </a:p>
                  </a:txBody>
                  <a:tcPr/>
                </a:tc>
                <a:tc>
                  <a:txBody>
                    <a:bodyPr/>
                    <a:lstStyle/>
                    <a:p>
                      <a:r>
                        <a:rPr lang="en-IN" sz="1200" b="0" dirty="0"/>
                        <a:t>Ali Ebrahimi </a:t>
                      </a:r>
                      <a:r>
                        <a:rPr lang="en-IN" sz="1200" dirty="0"/>
                        <a:t>(lead / corresponding author)</a:t>
                      </a:r>
                    </a:p>
                    <a:p>
                      <a:endParaRPr lang="en-IN" sz="1200" dirty="0"/>
                    </a:p>
                    <a:p>
                      <a:r>
                        <a:rPr lang="en-IN" sz="1200" b="0" dirty="0"/>
                        <a:t>Jakob Bo </a:t>
                      </a:r>
                      <a:r>
                        <a:rPr lang="en-IN" sz="1200" b="0" dirty="0" err="1"/>
                        <a:t>Reinevald</a:t>
                      </a:r>
                      <a:r>
                        <a:rPr lang="en-IN" sz="1200" b="0" dirty="0"/>
                        <a:t> Eriksen</a:t>
                      </a:r>
                    </a:p>
                    <a:p>
                      <a:endParaRPr lang="en-IN" sz="1200" b="0" dirty="0"/>
                    </a:p>
                    <a:p>
                      <a:r>
                        <a:rPr lang="en-IN" sz="1200" b="0" dirty="0"/>
                        <a:t>Uffe Kock Wiil</a:t>
                      </a:r>
                    </a:p>
                  </a:txBody>
                  <a:tcPr/>
                </a:tc>
                <a:tc>
                  <a:txBody>
                    <a:bodyPr/>
                    <a:lstStyle/>
                    <a:p>
                      <a:r>
                        <a:rPr lang="en-IN" sz="1200" dirty="0"/>
                        <a:t>Ensemble Methods:</a:t>
                      </a:r>
                    </a:p>
                    <a:p>
                      <a:pPr marL="171450" indent="-171450">
                        <a:buFont typeface="Arial" panose="020B0604020202020204" pitchFamily="34" charset="0"/>
                        <a:buChar char="•"/>
                      </a:pPr>
                      <a:r>
                        <a:rPr lang="en-US" sz="1200" dirty="0"/>
                        <a:t>Stacking classifier</a:t>
                      </a:r>
                    </a:p>
                    <a:p>
                      <a:pPr marL="171450" indent="-171450">
                        <a:buFont typeface="Arial" panose="020B0604020202020204" pitchFamily="34" charset="0"/>
                        <a:buChar char="•"/>
                      </a:pPr>
                      <a:r>
                        <a:rPr lang="en-US" sz="1200" dirty="0"/>
                        <a:t>Voting classifier (hard &amp; soft voting)</a:t>
                      </a:r>
                    </a:p>
                    <a:p>
                      <a:endParaRPr lang="en-US" sz="1200" dirty="0"/>
                    </a:p>
                    <a:p>
                      <a:r>
                        <a:rPr lang="en-IN" sz="1200" dirty="0"/>
                        <a:t>Shapley Additive Explanations (SHAP)</a:t>
                      </a:r>
                      <a:endParaRPr lang="en-US" sz="1200" dirty="0"/>
                    </a:p>
                  </a:txBody>
                  <a:tcPr/>
                </a:tc>
                <a:tc>
                  <a:txBody>
                    <a:bodyPr/>
                    <a:lstStyle/>
                    <a:p>
                      <a:r>
                        <a:rPr lang="en-IN" sz="1200" dirty="0"/>
                        <a:t>ACQUIRE-ICD dataset</a:t>
                      </a:r>
                    </a:p>
                  </a:txBody>
                  <a:tcPr/>
                </a:tc>
                <a:tc>
                  <a:txBody>
                    <a:bodyPr/>
                    <a:lstStyle/>
                    <a:p>
                      <a:r>
                        <a:rPr lang="en-US" sz="1200" dirty="0"/>
                        <a:t>The study builds machine learning models to detect anxiety and psychological distress in cardiac patients using patient-reported data. Ensemble methods like stacking and LGBM achieved high accuracy, while SHAP was used to explain predictions. The approach shows how explainable AI can support early mental health detection in clinical settings.</a:t>
                      </a:r>
                      <a:endParaRPr lang="en-IN" sz="1200" dirty="0"/>
                    </a:p>
                  </a:txBody>
                  <a:tcPr/>
                </a:tc>
                <a:tc>
                  <a:txBody>
                    <a:bodyPr/>
                    <a:lstStyle/>
                    <a:p>
                      <a:r>
                        <a:rPr lang="en-IN" sz="1200" dirty="0">
                          <a:hlinkClick r:id="rId2"/>
                        </a:rPr>
                        <a:t>https://link.springer.com/article/10.1186/s12911-025-03315-x#Abs1</a:t>
                      </a:r>
                      <a:endParaRPr lang="en-IN" sz="1200" dirty="0"/>
                    </a:p>
                  </a:txBody>
                  <a:tcPr/>
                </a:tc>
                <a:extLst>
                  <a:ext uri="{0D108BD9-81ED-4DB2-BD59-A6C34878D82A}">
                    <a16:rowId xmlns:a16="http://schemas.microsoft.com/office/drawing/2014/main" val="1480390803"/>
                  </a:ext>
                </a:extLst>
              </a:tr>
            </a:tbl>
          </a:graphicData>
        </a:graphic>
      </p:graphicFrame>
      <p:sp>
        <p:nvSpPr>
          <p:cNvPr id="7" name="TextBox 6">
            <a:extLst>
              <a:ext uri="{FF2B5EF4-FFF2-40B4-BE49-F238E27FC236}">
                <a16:creationId xmlns:a16="http://schemas.microsoft.com/office/drawing/2014/main" id="{F749FFDE-29C1-A163-6F90-9C8DED01F57D}"/>
              </a:ext>
            </a:extLst>
          </p:cNvPr>
          <p:cNvSpPr txBox="1"/>
          <p:nvPr/>
        </p:nvSpPr>
        <p:spPr>
          <a:xfrm>
            <a:off x="208088" y="932434"/>
            <a:ext cx="377026" cy="369332"/>
          </a:xfrm>
          <a:prstGeom prst="rect">
            <a:avLst/>
          </a:prstGeom>
          <a:noFill/>
        </p:spPr>
        <p:txBody>
          <a:bodyPr wrap="none" rtlCol="0">
            <a:spAutoFit/>
          </a:bodyPr>
          <a:lstStyle/>
          <a:p>
            <a:r>
              <a:rPr lang="en-IN" dirty="0"/>
              <a:t>3.</a:t>
            </a:r>
          </a:p>
        </p:txBody>
      </p:sp>
    </p:spTree>
    <p:extLst>
      <p:ext uri="{BB962C8B-B14F-4D97-AF65-F5344CB8AC3E}">
        <p14:creationId xmlns:p14="http://schemas.microsoft.com/office/powerpoint/2010/main" val="2369353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E8421-B62C-BBA7-6DB6-7343AF8194C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A926F73-6BDD-4E23-8063-82F318349209}"/>
              </a:ext>
            </a:extLst>
          </p:cNvPr>
          <p:cNvSpPr txBox="1">
            <a:spLocks noGrp="1"/>
          </p:cNvSpPr>
          <p:nvPr>
            <p:ph type="title"/>
          </p:nvPr>
        </p:nvSpPr>
        <p:spPr>
          <a:xfrm>
            <a:off x="2971596" y="281981"/>
            <a:ext cx="2514804" cy="289823"/>
          </a:xfrm>
          <a:prstGeom prst="rect">
            <a:avLst/>
          </a:prstGeom>
        </p:spPr>
        <p:txBody>
          <a:bodyPr vert="horz" wrap="square" lIns="0" tIns="12700" rIns="0" bIns="0" rtlCol="0">
            <a:spAutoFit/>
          </a:bodyPr>
          <a:lstStyle/>
          <a:p>
            <a:pPr marL="12700">
              <a:lnSpc>
                <a:spcPct val="100000"/>
              </a:lnSpc>
              <a:spcBef>
                <a:spcPts val="100"/>
              </a:spcBef>
            </a:pPr>
            <a:r>
              <a:rPr sz="1800" u="sng" spc="-5"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LITERATURE</a:t>
            </a:r>
            <a:r>
              <a:rPr sz="1800" u="sng" spc="-8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1800" u="sng" spc="-5"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SURVEY</a:t>
            </a:r>
          </a:p>
        </p:txBody>
      </p:sp>
      <p:sp>
        <p:nvSpPr>
          <p:cNvPr id="5" name="object 5">
            <a:extLst>
              <a:ext uri="{FF2B5EF4-FFF2-40B4-BE49-F238E27FC236}">
                <a16:creationId xmlns:a16="http://schemas.microsoft.com/office/drawing/2014/main" id="{8418DF2A-6967-4E2B-AF05-0A93EEC521AC}"/>
              </a:ext>
            </a:extLst>
          </p:cNvPr>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dirty="0"/>
              <a:t>9</a:t>
            </a:fld>
            <a:endParaRPr dirty="0"/>
          </a:p>
        </p:txBody>
      </p:sp>
      <p:sp>
        <p:nvSpPr>
          <p:cNvPr id="4" name="object 4">
            <a:extLst>
              <a:ext uri="{FF2B5EF4-FFF2-40B4-BE49-F238E27FC236}">
                <a16:creationId xmlns:a16="http://schemas.microsoft.com/office/drawing/2014/main" id="{5A1C4EBD-1B04-CA6B-0FC5-B8651A4FD4B6}"/>
              </a:ext>
            </a:extLst>
          </p:cNvPr>
          <p:cNvSpPr txBox="1"/>
          <p:nvPr/>
        </p:nvSpPr>
        <p:spPr>
          <a:xfrm>
            <a:off x="3093720" y="4856806"/>
            <a:ext cx="2956560" cy="166712"/>
          </a:xfrm>
          <a:prstGeom prst="rect">
            <a:avLst/>
          </a:prstGeom>
        </p:spPr>
        <p:txBody>
          <a:bodyPr vert="horz" wrap="square" lIns="0" tIns="12700" rIns="0" bIns="0" rtlCol="0">
            <a:spAutoFit/>
          </a:bodyPr>
          <a:lstStyle/>
          <a:p>
            <a:pPr marL="12700">
              <a:lnSpc>
                <a:spcPct val="100000"/>
              </a:lnSpc>
              <a:spcBef>
                <a:spcPts val="100"/>
              </a:spcBef>
            </a:pPr>
            <a:r>
              <a:rPr sz="1000" b="1" spc="-5" dirty="0">
                <a:latin typeface="Arial MT"/>
                <a:cs typeface="Arial MT"/>
              </a:rPr>
              <a:t>DEPARTMENT</a:t>
            </a:r>
            <a:r>
              <a:rPr sz="1000" b="1" spc="-30" dirty="0">
                <a:latin typeface="Arial MT"/>
                <a:cs typeface="Arial MT"/>
              </a:rPr>
              <a:t> </a:t>
            </a:r>
            <a:r>
              <a:rPr sz="1000" b="1" spc="-5" dirty="0">
                <a:latin typeface="Arial MT"/>
                <a:cs typeface="Arial MT"/>
              </a:rPr>
              <a:t>OF</a:t>
            </a:r>
            <a:r>
              <a:rPr sz="1000" b="1" spc="-25" dirty="0">
                <a:latin typeface="Arial MT"/>
                <a:cs typeface="Arial MT"/>
              </a:rPr>
              <a:t> </a:t>
            </a:r>
            <a:r>
              <a:rPr sz="1000" b="1" spc="-5" dirty="0">
                <a:latin typeface="Arial MT"/>
                <a:cs typeface="Arial MT"/>
              </a:rPr>
              <a:t>INFORMATION</a:t>
            </a:r>
            <a:r>
              <a:rPr sz="1000" b="1" spc="-30" dirty="0">
                <a:latin typeface="Arial MT"/>
                <a:cs typeface="Arial MT"/>
              </a:rPr>
              <a:t> </a:t>
            </a:r>
            <a:r>
              <a:rPr sz="1000" b="1" spc="-5" dirty="0">
                <a:latin typeface="Arial MT"/>
                <a:cs typeface="Arial MT"/>
              </a:rPr>
              <a:t>TECHNOLOGY</a:t>
            </a:r>
            <a:endParaRPr sz="1000" b="1" dirty="0">
              <a:latin typeface="Arial MT"/>
              <a:cs typeface="Arial MT"/>
            </a:endParaRPr>
          </a:p>
        </p:txBody>
      </p:sp>
      <p:graphicFrame>
        <p:nvGraphicFramePr>
          <p:cNvPr id="6" name="Table 5">
            <a:extLst>
              <a:ext uri="{FF2B5EF4-FFF2-40B4-BE49-F238E27FC236}">
                <a16:creationId xmlns:a16="http://schemas.microsoft.com/office/drawing/2014/main" id="{8F5473BE-C6FB-2439-648E-4A37DBC21DE7}"/>
              </a:ext>
            </a:extLst>
          </p:cNvPr>
          <p:cNvGraphicFramePr>
            <a:graphicFrameLocks noGrp="1"/>
          </p:cNvGraphicFramePr>
          <p:nvPr>
            <p:extLst>
              <p:ext uri="{D42A27DB-BD31-4B8C-83A1-F6EECF244321}">
                <p14:modId xmlns:p14="http://schemas.microsoft.com/office/powerpoint/2010/main" val="2474579994"/>
              </p:ext>
            </p:extLst>
          </p:nvPr>
        </p:nvGraphicFramePr>
        <p:xfrm>
          <a:off x="585114" y="932434"/>
          <a:ext cx="7287768" cy="3754120"/>
        </p:xfrm>
        <a:graphic>
          <a:graphicData uri="http://schemas.openxmlformats.org/drawingml/2006/table">
            <a:tbl>
              <a:tblPr firstRow="1" bandRow="1">
                <a:tableStyleId>{5C22544A-7EE6-4342-B048-85BDC9FD1C3A}</a:tableStyleId>
              </a:tblPr>
              <a:tblGrid>
                <a:gridCol w="1287780">
                  <a:extLst>
                    <a:ext uri="{9D8B030D-6E8A-4147-A177-3AD203B41FA5}">
                      <a16:colId xmlns:a16="http://schemas.microsoft.com/office/drawing/2014/main" val="1977519441"/>
                    </a:ext>
                  </a:extLst>
                </a:gridCol>
                <a:gridCol w="949960">
                  <a:extLst>
                    <a:ext uri="{9D8B030D-6E8A-4147-A177-3AD203B41FA5}">
                      <a16:colId xmlns:a16="http://schemas.microsoft.com/office/drawing/2014/main" val="859183997"/>
                    </a:ext>
                  </a:extLst>
                </a:gridCol>
                <a:gridCol w="1230757">
                  <a:extLst>
                    <a:ext uri="{9D8B030D-6E8A-4147-A177-3AD203B41FA5}">
                      <a16:colId xmlns:a16="http://schemas.microsoft.com/office/drawing/2014/main" val="1390931239"/>
                    </a:ext>
                  </a:extLst>
                </a:gridCol>
                <a:gridCol w="1088263">
                  <a:extLst>
                    <a:ext uri="{9D8B030D-6E8A-4147-A177-3AD203B41FA5}">
                      <a16:colId xmlns:a16="http://schemas.microsoft.com/office/drawing/2014/main" val="858872329"/>
                    </a:ext>
                  </a:extLst>
                </a:gridCol>
                <a:gridCol w="1627632">
                  <a:extLst>
                    <a:ext uri="{9D8B030D-6E8A-4147-A177-3AD203B41FA5}">
                      <a16:colId xmlns:a16="http://schemas.microsoft.com/office/drawing/2014/main" val="3497186849"/>
                    </a:ext>
                  </a:extLst>
                </a:gridCol>
                <a:gridCol w="1103376">
                  <a:extLst>
                    <a:ext uri="{9D8B030D-6E8A-4147-A177-3AD203B41FA5}">
                      <a16:colId xmlns:a16="http://schemas.microsoft.com/office/drawing/2014/main" val="3822258503"/>
                    </a:ext>
                  </a:extLst>
                </a:gridCol>
              </a:tblGrid>
              <a:tr h="370840">
                <a:tc>
                  <a:txBody>
                    <a:bodyPr/>
                    <a:lstStyle/>
                    <a:p>
                      <a:r>
                        <a:rPr lang="en-IN" sz="1200" dirty="0"/>
                        <a:t>Title</a:t>
                      </a:r>
                    </a:p>
                  </a:txBody>
                  <a:tcPr/>
                </a:tc>
                <a:tc>
                  <a:txBody>
                    <a:bodyPr/>
                    <a:lstStyle/>
                    <a:p>
                      <a:r>
                        <a:rPr lang="en-IN" sz="1200" dirty="0"/>
                        <a:t>Authors</a:t>
                      </a:r>
                    </a:p>
                  </a:txBody>
                  <a:tcPr/>
                </a:tc>
                <a:tc>
                  <a:txBody>
                    <a:bodyPr/>
                    <a:lstStyle/>
                    <a:p>
                      <a:r>
                        <a:rPr lang="en-IN" sz="1200" dirty="0"/>
                        <a:t>Algorithms</a:t>
                      </a:r>
                    </a:p>
                  </a:txBody>
                  <a:tcPr/>
                </a:tc>
                <a:tc>
                  <a:txBody>
                    <a:bodyPr/>
                    <a:lstStyle/>
                    <a:p>
                      <a:r>
                        <a:rPr lang="en-IN" sz="1200" dirty="0"/>
                        <a:t>Dataset</a:t>
                      </a:r>
                    </a:p>
                  </a:txBody>
                  <a:tcPr/>
                </a:tc>
                <a:tc>
                  <a:txBody>
                    <a:bodyPr/>
                    <a:lstStyle/>
                    <a:p>
                      <a:r>
                        <a:rPr lang="en-IN" sz="1200" dirty="0"/>
                        <a:t>Summary</a:t>
                      </a:r>
                    </a:p>
                  </a:txBody>
                  <a:tcPr/>
                </a:tc>
                <a:tc>
                  <a:txBody>
                    <a:bodyPr/>
                    <a:lstStyle/>
                    <a:p>
                      <a:r>
                        <a:rPr lang="en-IN" sz="1200" dirty="0"/>
                        <a:t>Paper</a:t>
                      </a:r>
                    </a:p>
                  </a:txBody>
                  <a:tcPr/>
                </a:tc>
                <a:extLst>
                  <a:ext uri="{0D108BD9-81ED-4DB2-BD59-A6C34878D82A}">
                    <a16:rowId xmlns:a16="http://schemas.microsoft.com/office/drawing/2014/main" val="3385354041"/>
                  </a:ext>
                </a:extLst>
              </a:tr>
              <a:tr h="370840">
                <a:tc>
                  <a:txBody>
                    <a:bodyPr/>
                    <a:lstStyle/>
                    <a:p>
                      <a:r>
                        <a:rPr lang="en-US" sz="1200" b="0" i="0" dirty="0">
                          <a:solidFill>
                            <a:schemeClr val="dk1"/>
                          </a:solidFill>
                          <a:effectLst/>
                          <a:latin typeface="+mn-lt"/>
                          <a:ea typeface="+mn-ea"/>
                          <a:cs typeface="+mn-cs"/>
                        </a:rPr>
                        <a:t>Personalized health monitoring using explainable AI: bridging trust in predictive healthcare</a:t>
                      </a:r>
                    </a:p>
                  </a:txBody>
                  <a:tcPr/>
                </a:tc>
                <a:tc>
                  <a:txBody>
                    <a:bodyPr/>
                    <a:lstStyle/>
                    <a:p>
                      <a:r>
                        <a:rPr lang="en-IN" sz="1200" b="0" i="0" dirty="0">
                          <a:solidFill>
                            <a:schemeClr val="dk1"/>
                          </a:solidFill>
                          <a:effectLst/>
                          <a:latin typeface="+mn-lt"/>
                          <a:ea typeface="+mn-ea"/>
                          <a:cs typeface="+mn-cs"/>
                        </a:rPr>
                        <a:t>M. Sree Vani </a:t>
                      </a:r>
                    </a:p>
                    <a:p>
                      <a:endParaRPr lang="en-IN" sz="1200" b="0" i="0" dirty="0">
                        <a:solidFill>
                          <a:schemeClr val="dk1"/>
                        </a:solidFill>
                        <a:effectLst/>
                        <a:latin typeface="+mn-lt"/>
                        <a:ea typeface="+mn-ea"/>
                        <a:cs typeface="+mn-cs"/>
                      </a:endParaRPr>
                    </a:p>
                    <a:p>
                      <a:r>
                        <a:rPr lang="en-IN" sz="1200" b="0" i="0" dirty="0">
                          <a:solidFill>
                            <a:schemeClr val="dk1"/>
                          </a:solidFill>
                          <a:effectLst/>
                          <a:latin typeface="+mn-lt"/>
                          <a:ea typeface="+mn-ea"/>
                          <a:cs typeface="+mn-cs"/>
                        </a:rPr>
                        <a:t>Rayapati Venkata Sudhakar</a:t>
                      </a:r>
                    </a:p>
                    <a:p>
                      <a:r>
                        <a:rPr lang="en-IN" sz="1200" b="0" i="0" dirty="0">
                          <a:solidFill>
                            <a:schemeClr val="dk1"/>
                          </a:solidFill>
                          <a:effectLst/>
                          <a:latin typeface="+mn-lt"/>
                          <a:ea typeface="+mn-ea"/>
                          <a:cs typeface="+mn-cs"/>
                        </a:rPr>
                        <a:t> </a:t>
                      </a:r>
                    </a:p>
                    <a:p>
                      <a:r>
                        <a:rPr lang="en-IN" sz="1200" b="0" i="0" dirty="0">
                          <a:solidFill>
                            <a:schemeClr val="dk1"/>
                          </a:solidFill>
                          <a:effectLst/>
                          <a:latin typeface="+mn-lt"/>
                          <a:ea typeface="+mn-ea"/>
                          <a:cs typeface="+mn-cs"/>
                        </a:rPr>
                        <a:t>Sukanya </a:t>
                      </a:r>
                      <a:r>
                        <a:rPr lang="en-IN" sz="1200" b="0" i="0" dirty="0" err="1">
                          <a:solidFill>
                            <a:schemeClr val="dk1"/>
                          </a:solidFill>
                          <a:effectLst/>
                          <a:latin typeface="+mn-lt"/>
                          <a:ea typeface="+mn-ea"/>
                          <a:cs typeface="+mn-cs"/>
                        </a:rPr>
                        <a:t>Ledalla</a:t>
                      </a:r>
                      <a:r>
                        <a:rPr lang="en-IN" sz="1200" b="0" i="0" dirty="0">
                          <a:solidFill>
                            <a:schemeClr val="dk1"/>
                          </a:solidFill>
                          <a:effectLst/>
                          <a:latin typeface="+mn-lt"/>
                          <a:ea typeface="+mn-ea"/>
                          <a:cs typeface="+mn-cs"/>
                        </a:rPr>
                        <a:t> </a:t>
                      </a:r>
                    </a:p>
                    <a:p>
                      <a:endParaRPr lang="en-IN" sz="1200" b="0" i="0" dirty="0">
                        <a:solidFill>
                          <a:schemeClr val="dk1"/>
                        </a:solidFill>
                        <a:effectLst/>
                        <a:latin typeface="+mn-lt"/>
                        <a:ea typeface="+mn-ea"/>
                        <a:cs typeface="+mn-cs"/>
                      </a:endParaRPr>
                    </a:p>
                    <a:p>
                      <a:r>
                        <a:rPr lang="en-IN" sz="1200" b="0" i="0" dirty="0">
                          <a:solidFill>
                            <a:schemeClr val="dk1"/>
                          </a:solidFill>
                          <a:effectLst/>
                          <a:latin typeface="+mn-lt"/>
                          <a:ea typeface="+mn-ea"/>
                          <a:cs typeface="+mn-cs"/>
                        </a:rPr>
                        <a:t>Marepalli Radha </a:t>
                      </a:r>
                    </a:p>
                    <a:p>
                      <a:r>
                        <a:rPr lang="en-IN" sz="1200" b="0" i="0" dirty="0">
                          <a:solidFill>
                            <a:schemeClr val="dk1"/>
                          </a:solidFill>
                          <a:effectLst/>
                          <a:latin typeface="+mn-lt"/>
                          <a:ea typeface="+mn-ea"/>
                          <a:cs typeface="+mn-cs"/>
                        </a:rPr>
                        <a:t> </a:t>
                      </a:r>
                    </a:p>
                    <a:p>
                      <a:r>
                        <a:rPr lang="en-IN" sz="1200" b="0" i="0" dirty="0">
                          <a:solidFill>
                            <a:schemeClr val="dk1"/>
                          </a:solidFill>
                          <a:effectLst/>
                          <a:latin typeface="+mn-lt"/>
                          <a:ea typeface="+mn-ea"/>
                          <a:cs typeface="+mn-cs"/>
                        </a:rPr>
                        <a:t>M. Sunitha </a:t>
                      </a:r>
                    </a:p>
                    <a:p>
                      <a:endParaRPr lang="en-IN" sz="1200" b="0" i="0" dirty="0">
                        <a:solidFill>
                          <a:schemeClr val="dk1"/>
                        </a:solidFill>
                        <a:effectLst/>
                        <a:latin typeface="+mn-lt"/>
                        <a:ea typeface="+mn-ea"/>
                        <a:cs typeface="+mn-cs"/>
                      </a:endParaRPr>
                    </a:p>
                    <a:p>
                      <a:endParaRPr lang="en-IN" sz="1200" b="0" dirty="0"/>
                    </a:p>
                  </a:txBody>
                  <a:tcPr/>
                </a:tc>
                <a:tc>
                  <a:txBody>
                    <a:bodyPr/>
                    <a:lstStyle/>
                    <a:p>
                      <a:r>
                        <a:rPr lang="en-US" sz="1200" dirty="0"/>
                        <a:t>CNN</a:t>
                      </a:r>
                    </a:p>
                    <a:p>
                      <a:endParaRPr lang="en-US" sz="1200" dirty="0"/>
                    </a:p>
                    <a:p>
                      <a:r>
                        <a:rPr lang="en-IN" sz="1200" dirty="0"/>
                        <a:t>Shapley Additive Explanations (SHAP)</a:t>
                      </a:r>
                      <a:endParaRPr lang="en-US" sz="1200" dirty="0"/>
                    </a:p>
                  </a:txBody>
                  <a:tcPr/>
                </a:tc>
                <a:tc>
                  <a:txBody>
                    <a:bodyPr/>
                    <a:lstStyle/>
                    <a:p>
                      <a:r>
                        <a:rPr lang="en-IN" sz="1200" b="0" i="0" dirty="0">
                          <a:solidFill>
                            <a:schemeClr val="dk1"/>
                          </a:solidFill>
                          <a:effectLst/>
                          <a:latin typeface="+mn-lt"/>
                          <a:ea typeface="+mn-ea"/>
                          <a:cs typeface="+mn-cs"/>
                        </a:rPr>
                        <a:t>MIMIC-III clinical dataset</a:t>
                      </a:r>
                      <a:endParaRPr lang="en-IN" sz="1200" dirty="0"/>
                    </a:p>
                  </a:txBody>
                  <a:tcPr/>
                </a:tc>
                <a:tc>
                  <a:txBody>
                    <a:bodyPr/>
                    <a:lstStyle/>
                    <a:p>
                      <a:r>
                        <a:rPr lang="en-US" sz="1200" dirty="0" err="1"/>
                        <a:t>PersonalCareNet</a:t>
                      </a:r>
                      <a:r>
                        <a:rPr lang="en-US" sz="1200" dirty="0"/>
                        <a:t> which is an interpretable deep learning model for personalized health monitoring using the MIMIC-III dataset. By combining attention-based CNNs with SHAP explanations, it delivers both global and patient-specific insights while achieving 97.86% accuracy, outperforming existing healthcare risk prediction models.</a:t>
                      </a:r>
                      <a:endParaRPr lang="en-IN" sz="1200" dirty="0"/>
                    </a:p>
                  </a:txBody>
                  <a:tcPr/>
                </a:tc>
                <a:tc>
                  <a:txBody>
                    <a:bodyPr/>
                    <a:lstStyle/>
                    <a:p>
                      <a:r>
                        <a:rPr lang="en-IN" sz="1200" dirty="0">
                          <a:hlinkClick r:id="rId2"/>
                        </a:rPr>
                        <a:t>https://link.springer.com/article/10.1038/s41598-025-15867-z</a:t>
                      </a:r>
                      <a:endParaRPr lang="en-IN" sz="1200" dirty="0"/>
                    </a:p>
                  </a:txBody>
                  <a:tcPr/>
                </a:tc>
                <a:extLst>
                  <a:ext uri="{0D108BD9-81ED-4DB2-BD59-A6C34878D82A}">
                    <a16:rowId xmlns:a16="http://schemas.microsoft.com/office/drawing/2014/main" val="1480390803"/>
                  </a:ext>
                </a:extLst>
              </a:tr>
            </a:tbl>
          </a:graphicData>
        </a:graphic>
      </p:graphicFrame>
      <p:sp>
        <p:nvSpPr>
          <p:cNvPr id="7" name="TextBox 6">
            <a:extLst>
              <a:ext uri="{FF2B5EF4-FFF2-40B4-BE49-F238E27FC236}">
                <a16:creationId xmlns:a16="http://schemas.microsoft.com/office/drawing/2014/main" id="{6A20C7A1-2C3F-8BC4-D48E-CBD1129D42B4}"/>
              </a:ext>
            </a:extLst>
          </p:cNvPr>
          <p:cNvSpPr txBox="1"/>
          <p:nvPr/>
        </p:nvSpPr>
        <p:spPr>
          <a:xfrm>
            <a:off x="208088" y="932434"/>
            <a:ext cx="377026" cy="369332"/>
          </a:xfrm>
          <a:prstGeom prst="rect">
            <a:avLst/>
          </a:prstGeom>
          <a:noFill/>
        </p:spPr>
        <p:txBody>
          <a:bodyPr wrap="none" rtlCol="0">
            <a:spAutoFit/>
          </a:bodyPr>
          <a:lstStyle/>
          <a:p>
            <a:r>
              <a:rPr lang="en-IN" dirty="0"/>
              <a:t>4.</a:t>
            </a:r>
          </a:p>
        </p:txBody>
      </p:sp>
    </p:spTree>
    <p:extLst>
      <p:ext uri="{BB962C8B-B14F-4D97-AF65-F5344CB8AC3E}">
        <p14:creationId xmlns:p14="http://schemas.microsoft.com/office/powerpoint/2010/main" val="756573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24C68-2A92-B763-ABAE-114F80FE1CF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594EC5E-4673-CDBF-E8A9-85A5ABC5BB55}"/>
              </a:ext>
            </a:extLst>
          </p:cNvPr>
          <p:cNvSpPr txBox="1">
            <a:spLocks noGrp="1"/>
          </p:cNvSpPr>
          <p:nvPr>
            <p:ph type="title"/>
          </p:nvPr>
        </p:nvSpPr>
        <p:spPr>
          <a:xfrm>
            <a:off x="2971596" y="281981"/>
            <a:ext cx="2514804" cy="289823"/>
          </a:xfrm>
          <a:prstGeom prst="rect">
            <a:avLst/>
          </a:prstGeom>
        </p:spPr>
        <p:txBody>
          <a:bodyPr vert="horz" wrap="square" lIns="0" tIns="12700" rIns="0" bIns="0" rtlCol="0">
            <a:spAutoFit/>
          </a:bodyPr>
          <a:lstStyle/>
          <a:p>
            <a:pPr marL="12700">
              <a:lnSpc>
                <a:spcPct val="100000"/>
              </a:lnSpc>
              <a:spcBef>
                <a:spcPts val="100"/>
              </a:spcBef>
            </a:pPr>
            <a:r>
              <a:rPr sz="1800" u="sng" spc="-5"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LITERATURE</a:t>
            </a:r>
            <a:r>
              <a:rPr sz="1800" u="sng" spc="-8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1800" u="sng" spc="-5"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SURVEY</a:t>
            </a:r>
          </a:p>
        </p:txBody>
      </p:sp>
      <p:sp>
        <p:nvSpPr>
          <p:cNvPr id="5" name="object 5">
            <a:extLst>
              <a:ext uri="{FF2B5EF4-FFF2-40B4-BE49-F238E27FC236}">
                <a16:creationId xmlns:a16="http://schemas.microsoft.com/office/drawing/2014/main" id="{7410F7A1-F31B-4C32-9815-75C88CFD4C66}"/>
              </a:ext>
            </a:extLst>
          </p:cNvPr>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dirty="0"/>
              <a:t>10</a:t>
            </a:fld>
            <a:endParaRPr dirty="0"/>
          </a:p>
        </p:txBody>
      </p:sp>
      <p:sp>
        <p:nvSpPr>
          <p:cNvPr id="4" name="object 4">
            <a:extLst>
              <a:ext uri="{FF2B5EF4-FFF2-40B4-BE49-F238E27FC236}">
                <a16:creationId xmlns:a16="http://schemas.microsoft.com/office/drawing/2014/main" id="{ADF7F047-5F7D-9A21-F6FB-96904DCC84EC}"/>
              </a:ext>
            </a:extLst>
          </p:cNvPr>
          <p:cNvSpPr txBox="1"/>
          <p:nvPr/>
        </p:nvSpPr>
        <p:spPr>
          <a:xfrm>
            <a:off x="3093720" y="4856806"/>
            <a:ext cx="2956560" cy="166712"/>
          </a:xfrm>
          <a:prstGeom prst="rect">
            <a:avLst/>
          </a:prstGeom>
        </p:spPr>
        <p:txBody>
          <a:bodyPr vert="horz" wrap="square" lIns="0" tIns="12700" rIns="0" bIns="0" rtlCol="0">
            <a:spAutoFit/>
          </a:bodyPr>
          <a:lstStyle/>
          <a:p>
            <a:pPr marL="12700">
              <a:lnSpc>
                <a:spcPct val="100000"/>
              </a:lnSpc>
              <a:spcBef>
                <a:spcPts val="100"/>
              </a:spcBef>
            </a:pPr>
            <a:r>
              <a:rPr sz="1000" b="1" spc="-5" dirty="0">
                <a:latin typeface="Arial MT"/>
                <a:cs typeface="Arial MT"/>
              </a:rPr>
              <a:t>DEPARTMENT</a:t>
            </a:r>
            <a:r>
              <a:rPr sz="1000" b="1" spc="-30" dirty="0">
                <a:latin typeface="Arial MT"/>
                <a:cs typeface="Arial MT"/>
              </a:rPr>
              <a:t> </a:t>
            </a:r>
            <a:r>
              <a:rPr sz="1000" b="1" spc="-5" dirty="0">
                <a:latin typeface="Arial MT"/>
                <a:cs typeface="Arial MT"/>
              </a:rPr>
              <a:t>OF</a:t>
            </a:r>
            <a:r>
              <a:rPr sz="1000" b="1" spc="-25" dirty="0">
                <a:latin typeface="Arial MT"/>
                <a:cs typeface="Arial MT"/>
              </a:rPr>
              <a:t> </a:t>
            </a:r>
            <a:r>
              <a:rPr sz="1000" b="1" spc="-5" dirty="0">
                <a:latin typeface="Arial MT"/>
                <a:cs typeface="Arial MT"/>
              </a:rPr>
              <a:t>INFORMATION</a:t>
            </a:r>
            <a:r>
              <a:rPr sz="1000" b="1" spc="-30" dirty="0">
                <a:latin typeface="Arial MT"/>
                <a:cs typeface="Arial MT"/>
              </a:rPr>
              <a:t> </a:t>
            </a:r>
            <a:r>
              <a:rPr sz="1000" b="1" spc="-5" dirty="0">
                <a:latin typeface="Arial MT"/>
                <a:cs typeface="Arial MT"/>
              </a:rPr>
              <a:t>TECHNOLOGY</a:t>
            </a:r>
            <a:endParaRPr sz="1000" b="1" dirty="0">
              <a:latin typeface="Arial MT"/>
              <a:cs typeface="Arial MT"/>
            </a:endParaRPr>
          </a:p>
        </p:txBody>
      </p:sp>
      <p:graphicFrame>
        <p:nvGraphicFramePr>
          <p:cNvPr id="6" name="Table 5">
            <a:extLst>
              <a:ext uri="{FF2B5EF4-FFF2-40B4-BE49-F238E27FC236}">
                <a16:creationId xmlns:a16="http://schemas.microsoft.com/office/drawing/2014/main" id="{C4AC84F2-E9C2-78F3-6F5A-8EB058381F04}"/>
              </a:ext>
            </a:extLst>
          </p:cNvPr>
          <p:cNvGraphicFramePr>
            <a:graphicFrameLocks noGrp="1"/>
          </p:cNvGraphicFramePr>
          <p:nvPr>
            <p:extLst>
              <p:ext uri="{D42A27DB-BD31-4B8C-83A1-F6EECF244321}">
                <p14:modId xmlns:p14="http://schemas.microsoft.com/office/powerpoint/2010/main" val="644995671"/>
              </p:ext>
            </p:extLst>
          </p:nvPr>
        </p:nvGraphicFramePr>
        <p:xfrm>
          <a:off x="585114" y="932434"/>
          <a:ext cx="7287768" cy="3388360"/>
        </p:xfrm>
        <a:graphic>
          <a:graphicData uri="http://schemas.openxmlformats.org/drawingml/2006/table">
            <a:tbl>
              <a:tblPr firstRow="1" bandRow="1">
                <a:tableStyleId>{5C22544A-7EE6-4342-B048-85BDC9FD1C3A}</a:tableStyleId>
              </a:tblPr>
              <a:tblGrid>
                <a:gridCol w="1287780">
                  <a:extLst>
                    <a:ext uri="{9D8B030D-6E8A-4147-A177-3AD203B41FA5}">
                      <a16:colId xmlns:a16="http://schemas.microsoft.com/office/drawing/2014/main" val="1977519441"/>
                    </a:ext>
                  </a:extLst>
                </a:gridCol>
                <a:gridCol w="949960">
                  <a:extLst>
                    <a:ext uri="{9D8B030D-6E8A-4147-A177-3AD203B41FA5}">
                      <a16:colId xmlns:a16="http://schemas.microsoft.com/office/drawing/2014/main" val="859183997"/>
                    </a:ext>
                  </a:extLst>
                </a:gridCol>
                <a:gridCol w="1230757">
                  <a:extLst>
                    <a:ext uri="{9D8B030D-6E8A-4147-A177-3AD203B41FA5}">
                      <a16:colId xmlns:a16="http://schemas.microsoft.com/office/drawing/2014/main" val="1390931239"/>
                    </a:ext>
                  </a:extLst>
                </a:gridCol>
                <a:gridCol w="1088263">
                  <a:extLst>
                    <a:ext uri="{9D8B030D-6E8A-4147-A177-3AD203B41FA5}">
                      <a16:colId xmlns:a16="http://schemas.microsoft.com/office/drawing/2014/main" val="858872329"/>
                    </a:ext>
                  </a:extLst>
                </a:gridCol>
                <a:gridCol w="1627632">
                  <a:extLst>
                    <a:ext uri="{9D8B030D-6E8A-4147-A177-3AD203B41FA5}">
                      <a16:colId xmlns:a16="http://schemas.microsoft.com/office/drawing/2014/main" val="3497186849"/>
                    </a:ext>
                  </a:extLst>
                </a:gridCol>
                <a:gridCol w="1103376">
                  <a:extLst>
                    <a:ext uri="{9D8B030D-6E8A-4147-A177-3AD203B41FA5}">
                      <a16:colId xmlns:a16="http://schemas.microsoft.com/office/drawing/2014/main" val="3822258503"/>
                    </a:ext>
                  </a:extLst>
                </a:gridCol>
              </a:tblGrid>
              <a:tr h="370840">
                <a:tc>
                  <a:txBody>
                    <a:bodyPr/>
                    <a:lstStyle/>
                    <a:p>
                      <a:r>
                        <a:rPr lang="en-IN" sz="1200" dirty="0"/>
                        <a:t>Title</a:t>
                      </a:r>
                    </a:p>
                  </a:txBody>
                  <a:tcPr/>
                </a:tc>
                <a:tc>
                  <a:txBody>
                    <a:bodyPr/>
                    <a:lstStyle/>
                    <a:p>
                      <a:r>
                        <a:rPr lang="en-IN" sz="1200" dirty="0"/>
                        <a:t>Authors</a:t>
                      </a:r>
                    </a:p>
                  </a:txBody>
                  <a:tcPr/>
                </a:tc>
                <a:tc>
                  <a:txBody>
                    <a:bodyPr/>
                    <a:lstStyle/>
                    <a:p>
                      <a:r>
                        <a:rPr lang="en-IN" sz="1200" dirty="0"/>
                        <a:t>Algorithms</a:t>
                      </a:r>
                    </a:p>
                  </a:txBody>
                  <a:tcPr/>
                </a:tc>
                <a:tc>
                  <a:txBody>
                    <a:bodyPr/>
                    <a:lstStyle/>
                    <a:p>
                      <a:r>
                        <a:rPr lang="en-IN" sz="1200" dirty="0"/>
                        <a:t>Dataset</a:t>
                      </a:r>
                    </a:p>
                  </a:txBody>
                  <a:tcPr/>
                </a:tc>
                <a:tc>
                  <a:txBody>
                    <a:bodyPr/>
                    <a:lstStyle/>
                    <a:p>
                      <a:r>
                        <a:rPr lang="en-IN" sz="1200" dirty="0"/>
                        <a:t>Summary</a:t>
                      </a:r>
                    </a:p>
                  </a:txBody>
                  <a:tcPr/>
                </a:tc>
                <a:tc>
                  <a:txBody>
                    <a:bodyPr/>
                    <a:lstStyle/>
                    <a:p>
                      <a:r>
                        <a:rPr lang="en-IN" sz="1200" dirty="0"/>
                        <a:t>Paper</a:t>
                      </a:r>
                    </a:p>
                  </a:txBody>
                  <a:tcPr/>
                </a:tc>
                <a:extLst>
                  <a:ext uri="{0D108BD9-81ED-4DB2-BD59-A6C34878D82A}">
                    <a16:rowId xmlns:a16="http://schemas.microsoft.com/office/drawing/2014/main" val="3385354041"/>
                  </a:ext>
                </a:extLst>
              </a:tr>
              <a:tr h="370840">
                <a:tc>
                  <a:txBody>
                    <a:bodyPr/>
                    <a:lstStyle/>
                    <a:p>
                      <a:r>
                        <a:rPr lang="en-US" sz="1200" b="0" i="0" dirty="0">
                          <a:solidFill>
                            <a:schemeClr val="dk1"/>
                          </a:solidFill>
                          <a:effectLst/>
                          <a:latin typeface="+mn-lt"/>
                          <a:ea typeface="+mn-ea"/>
                          <a:cs typeface="+mn-cs"/>
                        </a:rPr>
                        <a:t>Explainable machine learning for mental health prediction from social media behavior: a nested cross-validation study with SHAP and LIME interpretability</a:t>
                      </a:r>
                    </a:p>
                  </a:txBody>
                  <a:tcPr/>
                </a:tc>
                <a:tc>
                  <a:txBody>
                    <a:bodyPr/>
                    <a:lstStyle/>
                    <a:p>
                      <a:r>
                        <a:rPr lang="en-IN" sz="1200" b="0" i="0" dirty="0">
                          <a:solidFill>
                            <a:schemeClr val="dk1"/>
                          </a:solidFill>
                          <a:effectLst/>
                          <a:latin typeface="+mn-lt"/>
                          <a:ea typeface="+mn-ea"/>
                          <a:cs typeface="+mn-cs"/>
                        </a:rPr>
                        <a:t>Kamini Lamba</a:t>
                      </a:r>
                    </a:p>
                    <a:p>
                      <a:r>
                        <a:rPr lang="en-IN" sz="1200" b="0" i="0" dirty="0">
                          <a:solidFill>
                            <a:schemeClr val="dk1"/>
                          </a:solidFill>
                          <a:effectLst/>
                          <a:latin typeface="+mn-lt"/>
                          <a:ea typeface="+mn-ea"/>
                          <a:cs typeface="+mn-cs"/>
                        </a:rPr>
                        <a:t> </a:t>
                      </a:r>
                    </a:p>
                    <a:p>
                      <a:r>
                        <a:rPr lang="en-IN" sz="1200" b="0" i="0" dirty="0" err="1">
                          <a:solidFill>
                            <a:schemeClr val="dk1"/>
                          </a:solidFill>
                          <a:effectLst/>
                          <a:latin typeface="+mn-lt"/>
                          <a:ea typeface="+mn-ea"/>
                          <a:cs typeface="+mn-cs"/>
                        </a:rPr>
                        <a:t>Shalli</a:t>
                      </a:r>
                      <a:r>
                        <a:rPr lang="en-IN" sz="1200" b="0" i="0" dirty="0">
                          <a:solidFill>
                            <a:schemeClr val="dk1"/>
                          </a:solidFill>
                          <a:effectLst/>
                          <a:latin typeface="+mn-lt"/>
                          <a:ea typeface="+mn-ea"/>
                          <a:cs typeface="+mn-cs"/>
                        </a:rPr>
                        <a:t> Rani</a:t>
                      </a:r>
                    </a:p>
                    <a:p>
                      <a:r>
                        <a:rPr lang="en-IN" sz="1200" b="0" i="0" dirty="0">
                          <a:solidFill>
                            <a:schemeClr val="dk1"/>
                          </a:solidFill>
                          <a:effectLst/>
                          <a:latin typeface="+mn-lt"/>
                          <a:ea typeface="+mn-ea"/>
                          <a:cs typeface="+mn-cs"/>
                        </a:rPr>
                        <a:t> </a:t>
                      </a:r>
                    </a:p>
                    <a:p>
                      <a:r>
                        <a:rPr lang="en-IN" sz="1200" b="0" i="0" dirty="0">
                          <a:solidFill>
                            <a:schemeClr val="dk1"/>
                          </a:solidFill>
                          <a:effectLst/>
                          <a:latin typeface="+mn-lt"/>
                          <a:ea typeface="+mn-ea"/>
                          <a:cs typeface="+mn-cs"/>
                        </a:rPr>
                        <a:t>Mohammad Shabaz </a:t>
                      </a:r>
                    </a:p>
                    <a:p>
                      <a:br>
                        <a:rPr lang="en-IN" sz="1200" b="0" i="0" dirty="0">
                          <a:solidFill>
                            <a:schemeClr val="dk1"/>
                          </a:solidFill>
                          <a:effectLst/>
                          <a:latin typeface="+mn-lt"/>
                          <a:ea typeface="+mn-ea"/>
                          <a:cs typeface="+mn-cs"/>
                        </a:rPr>
                      </a:br>
                      <a:endParaRPr lang="en-IN" sz="1200" b="0" i="0" dirty="0">
                        <a:solidFill>
                          <a:schemeClr val="dk1"/>
                        </a:solidFill>
                        <a:effectLst/>
                        <a:latin typeface="+mn-lt"/>
                        <a:ea typeface="+mn-ea"/>
                        <a:cs typeface="+mn-cs"/>
                      </a:endParaRPr>
                    </a:p>
                    <a:p>
                      <a:endParaRPr lang="en-IN" sz="1200" b="0" dirty="0"/>
                    </a:p>
                  </a:txBody>
                  <a:tcPr/>
                </a:tc>
                <a:tc>
                  <a:txBody>
                    <a:bodyPr/>
                    <a:lstStyle/>
                    <a:p>
                      <a:r>
                        <a:rPr lang="en-IN" sz="1200" b="0" i="0" dirty="0">
                          <a:solidFill>
                            <a:schemeClr val="dk1"/>
                          </a:solidFill>
                          <a:effectLst/>
                          <a:latin typeface="+mn-lt"/>
                          <a:ea typeface="+mn-ea"/>
                          <a:cs typeface="+mn-cs"/>
                        </a:rPr>
                        <a:t>Logistic regression</a:t>
                      </a:r>
                    </a:p>
                    <a:p>
                      <a:endParaRPr lang="en-IN" sz="1200" b="0" i="0" dirty="0">
                        <a:solidFill>
                          <a:schemeClr val="dk1"/>
                        </a:solidFill>
                        <a:effectLst/>
                        <a:latin typeface="+mn-lt"/>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lang="en-IN" sz="1200" b="0" i="0" dirty="0">
                          <a:solidFill>
                            <a:schemeClr val="dk1"/>
                          </a:solidFill>
                          <a:effectLst/>
                          <a:latin typeface="+mn-lt"/>
                          <a:ea typeface="+mn-ea"/>
                          <a:cs typeface="+mn-cs"/>
                        </a:rPr>
                        <a:t>Support vector machine</a:t>
                      </a:r>
                    </a:p>
                    <a:p>
                      <a:endParaRPr lang="en-IN" sz="1200" b="0" i="0" dirty="0">
                        <a:solidFill>
                          <a:schemeClr val="dk1"/>
                        </a:solidFill>
                        <a:effectLst/>
                        <a:latin typeface="+mn-lt"/>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lang="en-IN" sz="1200" b="0" i="0" dirty="0">
                          <a:solidFill>
                            <a:schemeClr val="dk1"/>
                          </a:solidFill>
                          <a:effectLst/>
                          <a:latin typeface="+mn-lt"/>
                          <a:ea typeface="+mn-ea"/>
                          <a:cs typeface="+mn-cs"/>
                        </a:rPr>
                        <a:t>Random Forest classifier</a:t>
                      </a:r>
                    </a:p>
                    <a:p>
                      <a:endParaRPr lang="en-IN" sz="1200" b="0" i="0" dirty="0">
                        <a:solidFill>
                          <a:schemeClr val="dk1"/>
                        </a:solidFill>
                        <a:effectLst/>
                        <a:latin typeface="+mn-lt"/>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lang="en-IN" sz="1200" dirty="0"/>
                        <a:t>Shapley Additive Explanations (SHAP)</a:t>
                      </a:r>
                      <a:endParaRPr lang="en-US" sz="1200" dirty="0"/>
                    </a:p>
                    <a:p>
                      <a:endParaRPr lang="en-IN" sz="1200" b="0" i="0" dirty="0">
                        <a:solidFill>
                          <a:schemeClr val="dk1"/>
                        </a:solidFill>
                        <a:effectLst/>
                        <a:latin typeface="+mn-lt"/>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lang="en-IN" sz="1200" b="0" i="0" dirty="0">
                          <a:solidFill>
                            <a:schemeClr val="dk1"/>
                          </a:solidFill>
                          <a:effectLst/>
                          <a:latin typeface="+mn-lt"/>
                          <a:ea typeface="+mn-ea"/>
                          <a:cs typeface="+mn-cs"/>
                        </a:rPr>
                        <a:t>LIME</a:t>
                      </a:r>
                    </a:p>
                    <a:p>
                      <a:endParaRPr lang="en-IN" sz="1200" b="0" i="0" dirty="0">
                        <a:solidFill>
                          <a:schemeClr val="dk1"/>
                        </a:solidFill>
                        <a:effectLst/>
                        <a:latin typeface="+mn-lt"/>
                        <a:ea typeface="+mn-ea"/>
                        <a:cs typeface="+mn-cs"/>
                      </a:endParaRPr>
                    </a:p>
                  </a:txBody>
                  <a:tcPr/>
                </a:tc>
                <a:tc>
                  <a:txBody>
                    <a:bodyPr/>
                    <a:lstStyle/>
                    <a:p>
                      <a:r>
                        <a:rPr lang="en-US" sz="1200" b="0" i="0" dirty="0">
                          <a:solidFill>
                            <a:schemeClr val="dk1"/>
                          </a:solidFill>
                          <a:effectLst/>
                          <a:latin typeface="+mn-lt"/>
                          <a:ea typeface="+mn-ea"/>
                          <a:cs typeface="+mn-cs"/>
                        </a:rPr>
                        <a:t>481 responses from an online survey.  This population consists of participants between the ages of 18 and 35 years (inclusive) and is dominated by university students and young adults.</a:t>
                      </a:r>
                      <a:endParaRPr lang="en-IN" sz="1200" dirty="0"/>
                    </a:p>
                  </a:txBody>
                  <a:tcPr/>
                </a:tc>
                <a:tc>
                  <a:txBody>
                    <a:bodyPr/>
                    <a:lstStyle/>
                    <a:p>
                      <a:r>
                        <a:rPr lang="en-US" sz="1200" dirty="0"/>
                        <a:t>This study presents an explainable ML model to predict depression risk from social media behavior. Random Forest performed best (84.2% accuracy, AUC 0.88) and, with SHAP, provided clear insights into key behavioral factors. The framework improves transparency but requires larger datasets for stronger generalization.</a:t>
                      </a:r>
                      <a:endParaRPr lang="en-IN" sz="1200" dirty="0"/>
                    </a:p>
                  </a:txBody>
                  <a:tcPr/>
                </a:tc>
                <a:tc>
                  <a:txBody>
                    <a:bodyPr/>
                    <a:lstStyle/>
                    <a:p>
                      <a:r>
                        <a:rPr lang="en-IN" sz="1200" dirty="0">
                          <a:hlinkClick r:id="rId2"/>
                        </a:rPr>
                        <a:t>https://link.springer.com/article/10.1007/s44192-026-00373-z</a:t>
                      </a:r>
                      <a:endParaRPr lang="en-IN" sz="1200" dirty="0"/>
                    </a:p>
                  </a:txBody>
                  <a:tcPr/>
                </a:tc>
                <a:extLst>
                  <a:ext uri="{0D108BD9-81ED-4DB2-BD59-A6C34878D82A}">
                    <a16:rowId xmlns:a16="http://schemas.microsoft.com/office/drawing/2014/main" val="1480390803"/>
                  </a:ext>
                </a:extLst>
              </a:tr>
            </a:tbl>
          </a:graphicData>
        </a:graphic>
      </p:graphicFrame>
      <p:sp>
        <p:nvSpPr>
          <p:cNvPr id="7" name="TextBox 6">
            <a:extLst>
              <a:ext uri="{FF2B5EF4-FFF2-40B4-BE49-F238E27FC236}">
                <a16:creationId xmlns:a16="http://schemas.microsoft.com/office/drawing/2014/main" id="{9EDC10A7-0A82-7929-5E1F-745A33C42104}"/>
              </a:ext>
            </a:extLst>
          </p:cNvPr>
          <p:cNvSpPr txBox="1"/>
          <p:nvPr/>
        </p:nvSpPr>
        <p:spPr>
          <a:xfrm>
            <a:off x="208088" y="932434"/>
            <a:ext cx="377026" cy="369332"/>
          </a:xfrm>
          <a:prstGeom prst="rect">
            <a:avLst/>
          </a:prstGeom>
          <a:noFill/>
        </p:spPr>
        <p:txBody>
          <a:bodyPr wrap="none" rtlCol="0">
            <a:spAutoFit/>
          </a:bodyPr>
          <a:lstStyle/>
          <a:p>
            <a:r>
              <a:rPr lang="en-IN" dirty="0"/>
              <a:t>5.</a:t>
            </a:r>
          </a:p>
        </p:txBody>
      </p:sp>
    </p:spTree>
    <p:extLst>
      <p:ext uri="{BB962C8B-B14F-4D97-AF65-F5344CB8AC3E}">
        <p14:creationId xmlns:p14="http://schemas.microsoft.com/office/powerpoint/2010/main" val="4043172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43897" y="384511"/>
            <a:ext cx="2656206" cy="289823"/>
          </a:xfrm>
          <a:prstGeom prst="rect">
            <a:avLst/>
          </a:prstGeom>
        </p:spPr>
        <p:txBody>
          <a:bodyPr vert="horz" wrap="square" lIns="0" tIns="12700" rIns="0" bIns="0" rtlCol="0">
            <a:spAutoFit/>
          </a:bodyPr>
          <a:lstStyle/>
          <a:p>
            <a:pPr marL="12700">
              <a:lnSpc>
                <a:spcPct val="100000"/>
              </a:lnSpc>
              <a:spcBef>
                <a:spcPts val="100"/>
              </a:spcBef>
            </a:pPr>
            <a:r>
              <a:rPr lang="en-IN"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PROBLEM STATEMENT</a:t>
            </a:r>
            <a:endParaRPr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4" name="object 4"/>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dirty="0"/>
              <a:t>11</a:t>
            </a:fld>
            <a:endParaRPr dirty="0"/>
          </a:p>
        </p:txBody>
      </p:sp>
      <p:sp>
        <p:nvSpPr>
          <p:cNvPr id="3" name="object 3"/>
          <p:cNvSpPr txBox="1"/>
          <p:nvPr/>
        </p:nvSpPr>
        <p:spPr>
          <a:xfrm>
            <a:off x="3083242" y="4594251"/>
            <a:ext cx="2977515" cy="177800"/>
          </a:xfrm>
          <a:prstGeom prst="rect">
            <a:avLst/>
          </a:prstGeom>
        </p:spPr>
        <p:txBody>
          <a:bodyPr vert="horz" wrap="square" lIns="0" tIns="12700" rIns="0" bIns="0" rtlCol="0">
            <a:spAutoFit/>
          </a:bodyPr>
          <a:lstStyle/>
          <a:p>
            <a:pPr marL="12700">
              <a:lnSpc>
                <a:spcPct val="100000"/>
              </a:lnSpc>
              <a:spcBef>
                <a:spcPts val="100"/>
              </a:spcBef>
            </a:pPr>
            <a:r>
              <a:rPr lang="en-IN" sz="1000" b="1" spc="-5" dirty="0">
                <a:latin typeface="Arial" panose="020B0604020202020204"/>
                <a:cs typeface="Arial" panose="020B0604020202020204"/>
              </a:rPr>
              <a:t>DEPARTMENT</a:t>
            </a:r>
            <a:r>
              <a:rPr lang="en-IN" sz="1000" b="1" spc="-30" dirty="0">
                <a:latin typeface="Arial" panose="020B0604020202020204"/>
                <a:cs typeface="Arial" panose="020B0604020202020204"/>
              </a:rPr>
              <a:t> </a:t>
            </a:r>
            <a:r>
              <a:rPr lang="en-IN" sz="1000" b="1" spc="-5" dirty="0">
                <a:latin typeface="Arial" panose="020B0604020202020204"/>
                <a:cs typeface="Arial" panose="020B0604020202020204"/>
              </a:rPr>
              <a:t>OF</a:t>
            </a:r>
            <a:r>
              <a:rPr lang="en-IN" sz="1000" b="1" spc="-25" dirty="0">
                <a:latin typeface="Arial" panose="020B0604020202020204"/>
                <a:cs typeface="Arial" panose="020B0604020202020204"/>
              </a:rPr>
              <a:t> </a:t>
            </a:r>
            <a:r>
              <a:rPr lang="en-IN" sz="1000" b="1" spc="-5" dirty="0">
                <a:latin typeface="Arial" panose="020B0604020202020204"/>
                <a:cs typeface="Arial" panose="020B0604020202020204"/>
              </a:rPr>
              <a:t>INFORMATION</a:t>
            </a:r>
            <a:r>
              <a:rPr lang="en-IN" sz="1000" b="1" spc="-30" dirty="0">
                <a:latin typeface="Arial" panose="020B0604020202020204"/>
                <a:cs typeface="Arial" panose="020B0604020202020204"/>
              </a:rPr>
              <a:t> </a:t>
            </a:r>
            <a:r>
              <a:rPr lang="en-IN" sz="1000" b="1" spc="-5" dirty="0">
                <a:latin typeface="Arial" panose="020B0604020202020204"/>
                <a:cs typeface="Arial" panose="020B0604020202020204"/>
              </a:rPr>
              <a:t>TECHNOLOGY</a:t>
            </a:r>
            <a:endParaRPr lang="en-IN" sz="1000" dirty="0">
              <a:latin typeface="Arial" panose="020B0604020202020204"/>
              <a:cs typeface="Arial" panose="020B0604020202020204"/>
            </a:endParaRPr>
          </a:p>
        </p:txBody>
      </p:sp>
      <p:sp>
        <p:nvSpPr>
          <p:cNvPr id="5" name="TextBox 4">
            <a:extLst>
              <a:ext uri="{FF2B5EF4-FFF2-40B4-BE49-F238E27FC236}">
                <a16:creationId xmlns:a16="http://schemas.microsoft.com/office/drawing/2014/main" id="{9E4D7B48-9052-BD27-5546-DBF5F00ABFD0}"/>
              </a:ext>
            </a:extLst>
          </p:cNvPr>
          <p:cNvSpPr txBox="1"/>
          <p:nvPr/>
        </p:nvSpPr>
        <p:spPr>
          <a:xfrm>
            <a:off x="557561" y="1308409"/>
            <a:ext cx="7114478" cy="369332"/>
          </a:xfrm>
          <a:prstGeom prst="rect">
            <a:avLst/>
          </a:prstGeom>
          <a:solidFill>
            <a:schemeClr val="bg1"/>
          </a:solidFill>
        </p:spPr>
        <p:txBody>
          <a:bodyPr wrap="square" rtlCol="0">
            <a:spAutoFit/>
          </a:bodyPr>
          <a:lstStyle/>
          <a:p>
            <a:endParaRPr lang="en-IN" dirty="0"/>
          </a:p>
        </p:txBody>
      </p:sp>
      <p:sp>
        <p:nvSpPr>
          <p:cNvPr id="6" name="Rectangle 1"/>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a:ln>
                  <a:noFill/>
                </a:ln>
                <a:solidFill>
                  <a:schemeClr val="tx1"/>
                </a:solidFill>
                <a:effectLst/>
                <a:latin typeface="Arial" panose="020B0604020202020204" pitchFamily="34" charset="0"/>
              </a:rPr>
              <a:t>.</a:t>
            </a:r>
          </a:p>
        </p:txBody>
      </p:sp>
      <p:sp>
        <p:nvSpPr>
          <p:cNvPr id="9" name="Rectangle 8"/>
          <p:cNvSpPr/>
          <p:nvPr/>
        </p:nvSpPr>
        <p:spPr>
          <a:xfrm>
            <a:off x="685801" y="1138408"/>
            <a:ext cx="7208822" cy="2314544"/>
          </a:xfrm>
          <a:prstGeom prst="rect">
            <a:avLst/>
          </a:prstGeom>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1400" b="0" i="0" u="none" strike="noStrike" cap="none" normalizeH="0" baseline="0" dirty="0">
                <a:ln>
                  <a:noFill/>
                </a:ln>
                <a:solidFill>
                  <a:schemeClr val="tx1"/>
                </a:solidFill>
                <a:effectLst/>
                <a:latin typeface="Arial" panose="020B0604020202020204" pitchFamily="34" charset="0"/>
              </a:rPr>
              <a:t> Mental health issues like stress and anxiety are increasing rapidly.</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1400" b="0" i="0" u="none" strike="noStrike" cap="none" normalizeH="0" baseline="0" dirty="0">
                <a:ln>
                  <a:noFill/>
                </a:ln>
                <a:solidFill>
                  <a:schemeClr val="tx1"/>
                </a:solidFill>
                <a:effectLst/>
                <a:latin typeface="Arial" panose="020B0604020202020204" pitchFamily="34" charset="0"/>
              </a:rPr>
              <a:t> Early detection of stress is difficult using traditional methods such as surveys and clinical assessments.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1400" b="0" i="0" u="none" strike="noStrike" cap="none" normalizeH="0" baseline="0" dirty="0">
                <a:ln>
                  <a:noFill/>
                </a:ln>
                <a:solidFill>
                  <a:schemeClr val="tx1"/>
                </a:solidFill>
                <a:effectLst/>
                <a:latin typeface="Arial" panose="020B0604020202020204" pitchFamily="34" charset="0"/>
              </a:rPr>
              <a:t> Existing Machine Learning models can predict stress but often act as “black boxes.”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1400" b="0" i="0" u="none" strike="noStrike" cap="none" normalizeH="0" baseline="0" dirty="0">
                <a:ln>
                  <a:noFill/>
                </a:ln>
                <a:solidFill>
                  <a:schemeClr val="tx1"/>
                </a:solidFill>
                <a:effectLst/>
                <a:latin typeface="Arial" panose="020B0604020202020204" pitchFamily="34" charset="0"/>
              </a:rPr>
              <a:t> Lack of transparency reduces trust in AI-based mental health systems.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1400" b="0" i="0" u="none" strike="noStrike" cap="none" normalizeH="0" baseline="0" dirty="0">
                <a:ln>
                  <a:noFill/>
                </a:ln>
                <a:solidFill>
                  <a:schemeClr val="tx1"/>
                </a:solidFill>
                <a:effectLst/>
                <a:latin typeface="Arial" panose="020B0604020202020204" pitchFamily="34" charset="0"/>
              </a:rPr>
              <a:t> There is a need for a system that provides accurate stress detection along with clear and interpretable explanations of predictions.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640455" y="342265"/>
            <a:ext cx="1543685" cy="325755"/>
          </a:xfrm>
          <a:prstGeom prst="rect">
            <a:avLst/>
          </a:prstGeom>
        </p:spPr>
        <p:txBody>
          <a:bodyPr vert="horz" wrap="square" lIns="0" tIns="12700" rIns="0" bIns="0" rtlCol="0">
            <a:noAutofit/>
          </a:bodyPr>
          <a:lstStyle/>
          <a:p>
            <a:pPr marL="12700" algn="ctr">
              <a:lnSpc>
                <a:spcPct val="100000"/>
              </a:lnSpc>
              <a:spcBef>
                <a:spcPts val="100"/>
              </a:spcBef>
            </a:pPr>
            <a:r>
              <a:rPr sz="1800" b="1" u="sng" spc="-10" dirty="0">
                <a:effectLst>
                  <a:outerShdw blurRad="38100" dist="38100" dir="2700000" algn="tl">
                    <a:srgbClr val="000000">
                      <a:alpha val="43137"/>
                    </a:srgbClr>
                  </a:outerShdw>
                </a:effectLst>
                <a:latin typeface="Arial" panose="020B0604020202020204"/>
                <a:cs typeface="Arial" panose="020B0604020202020204"/>
              </a:rPr>
              <a:t>OBJECTIVES</a:t>
            </a:r>
          </a:p>
        </p:txBody>
      </p:sp>
      <p:sp>
        <p:nvSpPr>
          <p:cNvPr id="4" name="object 4"/>
          <p:cNvSpPr txBox="1">
            <a:spLocks noGrp="1"/>
          </p:cNvSpPr>
          <p:nvPr>
            <p:ph type="sldNum" sz="quarter" idx="7"/>
          </p:nvPr>
        </p:nvSpPr>
        <p:spPr>
          <a:xfrm>
            <a:off x="8756125" y="4778067"/>
            <a:ext cx="230504" cy="154305"/>
          </a:xfrm>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12</a:t>
            </a:fld>
            <a:endParaRPr spc="-25"/>
          </a:p>
        </p:txBody>
      </p:sp>
      <p:sp>
        <p:nvSpPr>
          <p:cNvPr id="3" name="object 3"/>
          <p:cNvSpPr txBox="1"/>
          <p:nvPr/>
        </p:nvSpPr>
        <p:spPr>
          <a:xfrm>
            <a:off x="3092132" y="4562032"/>
            <a:ext cx="2959735" cy="166370"/>
          </a:xfrm>
          <a:prstGeom prst="rect">
            <a:avLst/>
          </a:prstGeom>
        </p:spPr>
        <p:txBody>
          <a:bodyPr vert="horz" wrap="square" lIns="0" tIns="12700" rIns="0" bIns="0" rtlCol="0">
            <a:spAutoFit/>
          </a:bodyPr>
          <a:lstStyle/>
          <a:p>
            <a:pPr marL="12700">
              <a:lnSpc>
                <a:spcPct val="100000"/>
              </a:lnSpc>
              <a:spcBef>
                <a:spcPts val="100"/>
              </a:spcBef>
            </a:pPr>
            <a:r>
              <a:rPr sz="1000" b="1" spc="-20" dirty="0">
                <a:latin typeface="Arial" panose="020B0604020202020204"/>
                <a:cs typeface="Arial" panose="020B0604020202020204"/>
              </a:rPr>
              <a:t>DEPARTMENT</a:t>
            </a:r>
            <a:r>
              <a:rPr sz="1000" b="1" spc="20" dirty="0">
                <a:latin typeface="Arial" panose="020B0604020202020204"/>
                <a:cs typeface="Arial" panose="020B0604020202020204"/>
              </a:rPr>
              <a:t> </a:t>
            </a:r>
            <a:r>
              <a:rPr sz="1000" b="1" dirty="0">
                <a:latin typeface="Arial" panose="020B0604020202020204"/>
                <a:cs typeface="Arial" panose="020B0604020202020204"/>
              </a:rPr>
              <a:t>OF</a:t>
            </a:r>
            <a:r>
              <a:rPr sz="1000" b="1" spc="25" dirty="0">
                <a:latin typeface="Arial" panose="020B0604020202020204"/>
                <a:cs typeface="Arial" panose="020B0604020202020204"/>
              </a:rPr>
              <a:t> </a:t>
            </a:r>
            <a:r>
              <a:rPr sz="1000" b="1" spc="-20" dirty="0">
                <a:latin typeface="Arial" panose="020B0604020202020204"/>
                <a:cs typeface="Arial" panose="020B0604020202020204"/>
              </a:rPr>
              <a:t>INFORMATION</a:t>
            </a:r>
            <a:r>
              <a:rPr sz="1000" b="1" spc="20" dirty="0">
                <a:latin typeface="Arial" panose="020B0604020202020204"/>
                <a:cs typeface="Arial" panose="020B0604020202020204"/>
              </a:rPr>
              <a:t> </a:t>
            </a:r>
            <a:r>
              <a:rPr sz="1000" b="1" spc="-10" dirty="0">
                <a:latin typeface="Arial" panose="020B0604020202020204"/>
                <a:cs typeface="Arial" panose="020B0604020202020204"/>
              </a:rPr>
              <a:t>TECHNOLOGY</a:t>
            </a:r>
            <a:endParaRPr sz="1000" dirty="0">
              <a:latin typeface="Arial" panose="020B0604020202020204"/>
              <a:cs typeface="Arial" panose="020B0604020202020204"/>
            </a:endParaRPr>
          </a:p>
        </p:txBody>
      </p:sp>
      <p:sp>
        <p:nvSpPr>
          <p:cNvPr id="6" name="Rectangle 5"/>
          <p:cNvSpPr/>
          <p:nvPr/>
        </p:nvSpPr>
        <p:spPr>
          <a:xfrm>
            <a:off x="1102980" y="1625080"/>
            <a:ext cx="6614651" cy="1668214"/>
          </a:xfrm>
          <a:prstGeom prst="rect">
            <a:avLst/>
          </a:prstGeom>
        </p:spPr>
        <p:txBody>
          <a:bodyPr wrap="square">
            <a:spAutoFit/>
          </a:bodyPr>
          <a:lstStyle/>
          <a:p>
            <a:pPr algn="l">
              <a:lnSpc>
                <a:spcPct val="150000"/>
              </a:lnSpc>
            </a:pPr>
            <a:r>
              <a:rPr lang="en-IN" altLang="en-US" sz="1400" u="sng" dirty="0">
                <a:latin typeface="Arial" panose="020B0604020202020204" pitchFamily="34" charset="0"/>
                <a:cs typeface="Arial" panose="020B0604020202020204" pitchFamily="34" charset="0"/>
              </a:rPr>
              <a:t>Here are two main Objectives:-</a:t>
            </a:r>
            <a:endParaRPr kumimoji="0" lang="en-US" sz="14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1400" b="0" i="0" u="none" strike="noStrike" cap="none" normalizeH="0" baseline="0" dirty="0">
                <a:ln>
                  <a:noFill/>
                </a:ln>
                <a:solidFill>
                  <a:schemeClr val="tx1"/>
                </a:solidFill>
                <a:effectLst/>
                <a:latin typeface="Arial" panose="020B0604020202020204" pitchFamily="34" charset="0"/>
              </a:rPr>
              <a:t>To develop a Machine Learning–based model for detecting stress and mental health conditions.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1400" b="0" i="0" u="none" strike="noStrike" cap="none" normalizeH="0" baseline="0" dirty="0">
                <a:ln>
                  <a:noFill/>
                </a:ln>
                <a:solidFill>
                  <a:schemeClr val="tx1"/>
                </a:solidFill>
                <a:effectLst/>
                <a:latin typeface="Arial" panose="020B0604020202020204" pitchFamily="34" charset="0"/>
              </a:rPr>
              <a:t>To integrate Explainable AI (XAI) techniques to make model predictions transparent and interpretable.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66800" y="300355"/>
            <a:ext cx="7369175" cy="452120"/>
          </a:xfrm>
          <a:prstGeom prst="rect">
            <a:avLst/>
          </a:prstGeom>
        </p:spPr>
        <p:txBody>
          <a:bodyPr vert="horz" wrap="square" lIns="0" tIns="12700" rIns="0" bIns="0" rtlCol="0">
            <a:noAutofit/>
          </a:bodyPr>
          <a:lstStyle/>
          <a:p>
            <a:pPr marL="2353945">
              <a:lnSpc>
                <a:spcPct val="100000"/>
              </a:lnSpc>
              <a:spcBef>
                <a:spcPts val="100"/>
              </a:spcBef>
            </a:pPr>
            <a:r>
              <a:rPr sz="2000" b="1" u="sng" dirty="0">
                <a:effectLst>
                  <a:outerShdw blurRad="38100" dist="38100" dir="2700000" algn="tl">
                    <a:srgbClr val="000000">
                      <a:alpha val="43137"/>
                    </a:srgbClr>
                  </a:outerShdw>
                </a:effectLst>
                <a:latin typeface="+mj-lt"/>
                <a:cs typeface="Arial" panose="020B0604020202020204"/>
              </a:rPr>
              <a:t>PROPOS</a:t>
            </a:r>
            <a:r>
              <a:rPr lang="en-IN" sz="2000" b="1" u="sng" dirty="0">
                <a:effectLst>
                  <a:outerShdw blurRad="38100" dist="38100" dir="2700000" algn="tl">
                    <a:srgbClr val="000000">
                      <a:alpha val="43137"/>
                    </a:srgbClr>
                  </a:outerShdw>
                </a:effectLst>
                <a:latin typeface="+mj-lt"/>
                <a:cs typeface="Arial" panose="020B0604020202020204"/>
              </a:rPr>
              <a:t>ED</a:t>
            </a:r>
            <a:r>
              <a:rPr lang="en-IN" sz="2000" b="1" u="sng" spc="-40" dirty="0">
                <a:effectLst>
                  <a:outerShdw blurRad="38100" dist="38100" dir="2700000" algn="tl">
                    <a:srgbClr val="000000">
                      <a:alpha val="43137"/>
                    </a:srgbClr>
                  </a:outerShdw>
                </a:effectLst>
                <a:latin typeface="+mj-lt"/>
                <a:cs typeface="Arial" panose="020B0604020202020204"/>
              </a:rPr>
              <a:t> </a:t>
            </a:r>
            <a:r>
              <a:rPr lang="en-IN" sz="2000" b="1" u="sng" spc="-10" dirty="0">
                <a:effectLst>
                  <a:outerShdw blurRad="38100" dist="38100" dir="2700000" algn="tl">
                    <a:srgbClr val="000000">
                      <a:alpha val="43137"/>
                    </a:srgbClr>
                  </a:outerShdw>
                </a:effectLst>
                <a:latin typeface="+mj-lt"/>
                <a:cs typeface="Arial" panose="020B0604020202020204"/>
              </a:rPr>
              <a:t>SOLUTION</a:t>
            </a:r>
            <a:endParaRPr lang="en-IN" sz="2000" b="1" u="sng" dirty="0">
              <a:effectLst>
                <a:outerShdw blurRad="38100" dist="38100" dir="2700000" algn="tl">
                  <a:srgbClr val="000000">
                    <a:alpha val="43137"/>
                  </a:srgbClr>
                </a:outerShdw>
              </a:effectLst>
              <a:latin typeface="+mj-lt"/>
              <a:cs typeface="Arial" panose="020B0604020202020204"/>
            </a:endParaRPr>
          </a:p>
          <a:p>
            <a:pPr>
              <a:lnSpc>
                <a:spcPct val="100000"/>
              </a:lnSpc>
              <a:spcBef>
                <a:spcPts val="1530"/>
              </a:spcBef>
            </a:pPr>
            <a:endParaRPr lang="en-IN" sz="2000" b="1" u="sng" dirty="0">
              <a:effectLst>
                <a:outerShdw blurRad="38100" dist="38100" dir="2700000" algn="tl">
                  <a:srgbClr val="000000">
                    <a:alpha val="43137"/>
                  </a:srgbClr>
                </a:outerShdw>
              </a:effectLst>
              <a:latin typeface="Arial" panose="020B0604020202020204"/>
              <a:cs typeface="Arial" panose="020B0604020202020204"/>
            </a:endParaRPr>
          </a:p>
        </p:txBody>
      </p:sp>
      <p:sp>
        <p:nvSpPr>
          <p:cNvPr id="4" name="object 4"/>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13</a:t>
            </a:fld>
            <a:endParaRPr spc="-25"/>
          </a:p>
        </p:txBody>
      </p:sp>
      <p:sp>
        <p:nvSpPr>
          <p:cNvPr id="6" name="TextBox 5">
            <a:extLst>
              <a:ext uri="{FF2B5EF4-FFF2-40B4-BE49-F238E27FC236}">
                <a16:creationId xmlns:a16="http://schemas.microsoft.com/office/drawing/2014/main" id="{ACFD6BBE-31C6-EA6E-52C2-A695223BF99E}"/>
              </a:ext>
            </a:extLst>
          </p:cNvPr>
          <p:cNvSpPr txBox="1"/>
          <p:nvPr/>
        </p:nvSpPr>
        <p:spPr>
          <a:xfrm>
            <a:off x="5294725" y="2015792"/>
            <a:ext cx="2757893" cy="1720151"/>
          </a:xfrm>
          <a:prstGeom prst="rect">
            <a:avLst/>
          </a:prstGeom>
          <a:solidFill>
            <a:schemeClr val="tx2">
              <a:lumMod val="20000"/>
              <a:lumOff val="80000"/>
            </a:schemeClr>
          </a:solidFill>
        </p:spPr>
        <p:txBody>
          <a:bodyPr wrap="square" rtlCol="0">
            <a:spAutoFit/>
          </a:bodyPr>
          <a:lstStyle/>
          <a:p>
            <a:pPr>
              <a:lnSpc>
                <a:spcPct val="150000"/>
              </a:lnSpc>
            </a:pPr>
            <a:r>
              <a:rPr lang="en-IN" sz="1200" b="1" dirty="0">
                <a:latin typeface="Arial" panose="020B0604020202020204" pitchFamily="34" charset="0"/>
                <a:cs typeface="Arial" panose="020B0604020202020204" pitchFamily="34" charset="0"/>
              </a:rPr>
              <a:t>Frontend</a:t>
            </a:r>
            <a:r>
              <a:rPr lang="en-IN" sz="1200" dirty="0">
                <a:latin typeface="Arial" panose="020B0604020202020204" pitchFamily="34" charset="0"/>
                <a:cs typeface="Arial" panose="020B0604020202020204" pitchFamily="34" charset="0"/>
              </a:rPr>
              <a:t>: </a:t>
            </a:r>
            <a:r>
              <a:rPr lang="en-IN" sz="1200" dirty="0" err="1">
                <a:latin typeface="Arial" panose="020B0604020202020204" pitchFamily="34" charset="0"/>
                <a:cs typeface="Arial" panose="020B0604020202020204" pitchFamily="34" charset="0"/>
              </a:rPr>
              <a:t>NextJs</a:t>
            </a:r>
            <a:br>
              <a:rPr lang="en-IN" sz="1200" dirty="0">
                <a:latin typeface="Arial" panose="020B0604020202020204" pitchFamily="34" charset="0"/>
                <a:cs typeface="Arial" panose="020B0604020202020204" pitchFamily="34" charset="0"/>
              </a:rPr>
            </a:br>
            <a:r>
              <a:rPr lang="en-IN" sz="1200" b="1" dirty="0">
                <a:latin typeface="Arial" panose="020B0604020202020204" pitchFamily="34" charset="0"/>
                <a:cs typeface="Arial" panose="020B0604020202020204" pitchFamily="34" charset="0"/>
              </a:rPr>
              <a:t>Backend</a:t>
            </a:r>
            <a:r>
              <a:rPr lang="en-IN" sz="1200" dirty="0">
                <a:latin typeface="Arial" panose="020B0604020202020204" pitchFamily="34" charset="0"/>
                <a:cs typeface="Arial" panose="020B0604020202020204" pitchFamily="34" charset="0"/>
              </a:rPr>
              <a:t>: Flask / Python</a:t>
            </a:r>
            <a:br>
              <a:rPr lang="en-IN" sz="1200" dirty="0">
                <a:latin typeface="Arial" panose="020B0604020202020204" pitchFamily="34" charset="0"/>
                <a:cs typeface="Arial" panose="020B0604020202020204" pitchFamily="34" charset="0"/>
              </a:rPr>
            </a:br>
            <a:r>
              <a:rPr lang="en-IN" sz="1200" b="1" dirty="0">
                <a:latin typeface="Arial" panose="020B0604020202020204" pitchFamily="34" charset="0"/>
                <a:cs typeface="Arial" panose="020B0604020202020204" pitchFamily="34" charset="0"/>
              </a:rPr>
              <a:t>ML Libraries</a:t>
            </a:r>
            <a:r>
              <a:rPr lang="en-IN" sz="1200" dirty="0">
                <a:latin typeface="Arial" panose="020B0604020202020204" pitchFamily="34" charset="0"/>
                <a:cs typeface="Arial" panose="020B0604020202020204" pitchFamily="34" charset="0"/>
              </a:rPr>
              <a:t>: Scikit-learn, Pandas, NumPy</a:t>
            </a:r>
            <a:br>
              <a:rPr lang="en-IN" sz="1200" dirty="0">
                <a:latin typeface="Arial" panose="020B0604020202020204" pitchFamily="34" charset="0"/>
                <a:cs typeface="Arial" panose="020B0604020202020204" pitchFamily="34" charset="0"/>
              </a:rPr>
            </a:br>
            <a:r>
              <a:rPr lang="en-IN" sz="1200" b="1" dirty="0">
                <a:latin typeface="Arial" panose="020B0604020202020204" pitchFamily="34" charset="0"/>
                <a:cs typeface="Arial" panose="020B0604020202020204" pitchFamily="34" charset="0"/>
              </a:rPr>
              <a:t>Explainability</a:t>
            </a:r>
            <a:r>
              <a:rPr lang="en-IN" sz="1200" dirty="0">
                <a:latin typeface="Arial" panose="020B0604020202020204" pitchFamily="34" charset="0"/>
                <a:cs typeface="Arial" panose="020B0604020202020204" pitchFamily="34" charset="0"/>
              </a:rPr>
              <a:t>: SHAP / LIME</a:t>
            </a:r>
          </a:p>
          <a:p>
            <a:pPr>
              <a:lnSpc>
                <a:spcPct val="150000"/>
              </a:lnSpc>
            </a:pPr>
            <a:r>
              <a:rPr lang="en-IN" sz="1200" b="1" dirty="0">
                <a:latin typeface="Arial" panose="020B0604020202020204" pitchFamily="34" charset="0"/>
                <a:cs typeface="Arial" panose="020B0604020202020204" pitchFamily="34" charset="0"/>
              </a:rPr>
              <a:t>Dataset</a:t>
            </a:r>
            <a:r>
              <a:rPr lang="en-IN" sz="1200" dirty="0">
                <a:latin typeface="Arial" panose="020B0604020202020204" pitchFamily="34" charset="0"/>
                <a:cs typeface="Arial" panose="020B0604020202020204" pitchFamily="34" charset="0"/>
              </a:rPr>
              <a:t>: </a:t>
            </a:r>
            <a:r>
              <a:rPr lang="en-IN" sz="1200" dirty="0"/>
              <a:t>Physiological dataset</a:t>
            </a:r>
            <a:endParaRPr lang="en-IN" sz="1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74B88ABB-78DB-B329-80EF-5CF927AF8D3C}"/>
              </a:ext>
            </a:extLst>
          </p:cNvPr>
          <p:cNvSpPr txBox="1"/>
          <p:nvPr/>
        </p:nvSpPr>
        <p:spPr>
          <a:xfrm>
            <a:off x="5191626" y="1594841"/>
            <a:ext cx="1338828" cy="369332"/>
          </a:xfrm>
          <a:prstGeom prst="rect">
            <a:avLst/>
          </a:prstGeom>
          <a:noFill/>
        </p:spPr>
        <p:txBody>
          <a:bodyPr wrap="none" rtlCol="0">
            <a:spAutoFit/>
          </a:bodyPr>
          <a:lstStyle/>
          <a:p>
            <a:r>
              <a:rPr lang="en-IN" dirty="0"/>
              <a:t>Tech Stack</a:t>
            </a:r>
          </a:p>
        </p:txBody>
      </p:sp>
      <p:sp>
        <p:nvSpPr>
          <p:cNvPr id="5" name="object 3">
            <a:extLst>
              <a:ext uri="{FF2B5EF4-FFF2-40B4-BE49-F238E27FC236}">
                <a16:creationId xmlns:a16="http://schemas.microsoft.com/office/drawing/2014/main" id="{33CCBC2D-DECD-56E3-18AF-A9A9B35A5CD6}"/>
              </a:ext>
            </a:extLst>
          </p:cNvPr>
          <p:cNvSpPr txBox="1"/>
          <p:nvPr/>
        </p:nvSpPr>
        <p:spPr>
          <a:xfrm>
            <a:off x="3260257" y="4637434"/>
            <a:ext cx="2959735" cy="276225"/>
          </a:xfrm>
          <a:prstGeom prst="rect">
            <a:avLst/>
          </a:prstGeom>
        </p:spPr>
        <p:txBody>
          <a:bodyPr vert="horz" wrap="square" lIns="0" tIns="12700" rIns="0" bIns="0" rtlCol="0">
            <a:noAutofit/>
          </a:bodyPr>
          <a:lstStyle/>
          <a:p>
            <a:pPr marL="12700">
              <a:lnSpc>
                <a:spcPct val="100000"/>
              </a:lnSpc>
              <a:spcBef>
                <a:spcPts val="100"/>
              </a:spcBef>
            </a:pPr>
            <a:r>
              <a:rPr sz="1000" b="1" spc="-20" dirty="0">
                <a:latin typeface="Arial" panose="020B0604020202020204"/>
                <a:cs typeface="Arial" panose="020B0604020202020204"/>
              </a:rPr>
              <a:t>DEPARTMENT</a:t>
            </a:r>
            <a:r>
              <a:rPr sz="1000" b="1" spc="20" dirty="0">
                <a:latin typeface="Arial" panose="020B0604020202020204"/>
                <a:cs typeface="Arial" panose="020B0604020202020204"/>
              </a:rPr>
              <a:t> </a:t>
            </a:r>
            <a:r>
              <a:rPr sz="1000" b="1" dirty="0">
                <a:latin typeface="Arial" panose="020B0604020202020204"/>
                <a:cs typeface="Arial" panose="020B0604020202020204"/>
              </a:rPr>
              <a:t>OF</a:t>
            </a:r>
            <a:r>
              <a:rPr sz="1000" b="1" spc="25" dirty="0">
                <a:latin typeface="Arial" panose="020B0604020202020204"/>
                <a:cs typeface="Arial" panose="020B0604020202020204"/>
              </a:rPr>
              <a:t> </a:t>
            </a:r>
            <a:r>
              <a:rPr sz="1000" b="1" spc="-20" dirty="0">
                <a:latin typeface="Arial" panose="020B0604020202020204"/>
                <a:cs typeface="Arial" panose="020B0604020202020204"/>
              </a:rPr>
              <a:t>INFORMATION</a:t>
            </a:r>
            <a:r>
              <a:rPr sz="1000" b="1" spc="20" dirty="0">
                <a:latin typeface="Arial" panose="020B0604020202020204"/>
                <a:cs typeface="Arial" panose="020B0604020202020204"/>
              </a:rPr>
              <a:t> </a:t>
            </a:r>
            <a:r>
              <a:rPr sz="1000" b="1" spc="-10" dirty="0">
                <a:latin typeface="Arial" panose="020B0604020202020204"/>
                <a:cs typeface="Arial" panose="020B0604020202020204"/>
              </a:rPr>
              <a:t>TECHNOLOGY</a:t>
            </a:r>
            <a:endParaRPr sz="1000" dirty="0">
              <a:latin typeface="Arial" panose="020B0604020202020204"/>
              <a:cs typeface="Arial" panose="020B0604020202020204"/>
            </a:endParaRPr>
          </a:p>
        </p:txBody>
      </p:sp>
      <p:pic>
        <p:nvPicPr>
          <p:cNvPr id="9" name="Picture 8">
            <a:extLst>
              <a:ext uri="{FF2B5EF4-FFF2-40B4-BE49-F238E27FC236}">
                <a16:creationId xmlns:a16="http://schemas.microsoft.com/office/drawing/2014/main" id="{6A36D57F-5C70-0B89-EE5D-F5F25F5ADA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830" y="995362"/>
            <a:ext cx="3838575" cy="3152775"/>
          </a:xfrm>
          <a:prstGeom prst="rect">
            <a:avLst/>
          </a:prstGeom>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84450" y="367953"/>
            <a:ext cx="2174462" cy="320601"/>
          </a:xfrm>
          <a:prstGeom prst="rect">
            <a:avLst/>
          </a:prstGeom>
        </p:spPr>
        <p:txBody>
          <a:bodyPr vert="horz" wrap="square" lIns="0" tIns="12700" rIns="0" bIns="0" rtlCol="0">
            <a:spAutoFit/>
          </a:bodyPr>
          <a:lstStyle/>
          <a:p>
            <a:pPr marL="12700" algn="ctr">
              <a:lnSpc>
                <a:spcPct val="100000"/>
              </a:lnSpc>
              <a:spcBef>
                <a:spcPts val="100"/>
              </a:spcBef>
            </a:pPr>
            <a:r>
              <a:rPr sz="2000" b="1" u="sng" spc="-1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CONCLUSION</a:t>
            </a:r>
            <a:endParaRPr sz="2000"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4" name="object 4"/>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14</a:t>
            </a:fld>
            <a:endParaRPr spc="-25"/>
          </a:p>
        </p:txBody>
      </p:sp>
      <p:sp>
        <p:nvSpPr>
          <p:cNvPr id="3" name="object 3"/>
          <p:cNvSpPr txBox="1"/>
          <p:nvPr/>
        </p:nvSpPr>
        <p:spPr>
          <a:xfrm>
            <a:off x="3260257" y="4637434"/>
            <a:ext cx="2959735" cy="276225"/>
          </a:xfrm>
          <a:prstGeom prst="rect">
            <a:avLst/>
          </a:prstGeom>
        </p:spPr>
        <p:txBody>
          <a:bodyPr vert="horz" wrap="square" lIns="0" tIns="12700" rIns="0" bIns="0" rtlCol="0">
            <a:noAutofit/>
          </a:bodyPr>
          <a:lstStyle/>
          <a:p>
            <a:pPr marL="12700">
              <a:lnSpc>
                <a:spcPct val="100000"/>
              </a:lnSpc>
              <a:spcBef>
                <a:spcPts val="100"/>
              </a:spcBef>
            </a:pPr>
            <a:r>
              <a:rPr sz="1000" b="1" spc="-20" dirty="0">
                <a:latin typeface="Arial" panose="020B0604020202020204"/>
                <a:cs typeface="Arial" panose="020B0604020202020204"/>
              </a:rPr>
              <a:t>DEPARTMENT</a:t>
            </a:r>
            <a:r>
              <a:rPr sz="1000" b="1" spc="20" dirty="0">
                <a:latin typeface="Arial" panose="020B0604020202020204"/>
                <a:cs typeface="Arial" panose="020B0604020202020204"/>
              </a:rPr>
              <a:t> </a:t>
            </a:r>
            <a:r>
              <a:rPr sz="1000" b="1" dirty="0">
                <a:latin typeface="Arial" panose="020B0604020202020204"/>
                <a:cs typeface="Arial" panose="020B0604020202020204"/>
              </a:rPr>
              <a:t>OF</a:t>
            </a:r>
            <a:r>
              <a:rPr sz="1000" b="1" spc="25" dirty="0">
                <a:latin typeface="Arial" panose="020B0604020202020204"/>
                <a:cs typeface="Arial" panose="020B0604020202020204"/>
              </a:rPr>
              <a:t> </a:t>
            </a:r>
            <a:r>
              <a:rPr sz="1000" b="1" spc="-20" dirty="0">
                <a:latin typeface="Arial" panose="020B0604020202020204"/>
                <a:cs typeface="Arial" panose="020B0604020202020204"/>
              </a:rPr>
              <a:t>INFORMATION</a:t>
            </a:r>
            <a:r>
              <a:rPr sz="1000" b="1" spc="20" dirty="0">
                <a:latin typeface="Arial" panose="020B0604020202020204"/>
                <a:cs typeface="Arial" panose="020B0604020202020204"/>
              </a:rPr>
              <a:t> </a:t>
            </a:r>
            <a:r>
              <a:rPr sz="1000" b="1" spc="-10" dirty="0">
                <a:latin typeface="Arial" panose="020B0604020202020204"/>
                <a:cs typeface="Arial" panose="020B0604020202020204"/>
              </a:rPr>
              <a:t>TECHNOLOGY</a:t>
            </a:r>
            <a:endParaRPr sz="1000" dirty="0">
              <a:latin typeface="Arial" panose="020B0604020202020204"/>
              <a:cs typeface="Arial" panose="020B0604020202020204"/>
            </a:endParaRPr>
          </a:p>
        </p:txBody>
      </p:sp>
      <p:sp>
        <p:nvSpPr>
          <p:cNvPr id="5" name="Rectangle 1">
            <a:extLst>
              <a:ext uri="{FF2B5EF4-FFF2-40B4-BE49-F238E27FC236}">
                <a16:creationId xmlns:a16="http://schemas.microsoft.com/office/drawing/2014/main" id="{03498505-5993-8E96-14B3-4D8C2E9DB86D}"/>
              </a:ext>
            </a:extLst>
          </p:cNvPr>
          <p:cNvSpPr>
            <a:spLocks noChangeArrowheads="1"/>
          </p:cNvSpPr>
          <p:nvPr/>
        </p:nvSpPr>
        <p:spPr bwMode="auto">
          <a:xfrm>
            <a:off x="838200" y="859392"/>
            <a:ext cx="7040880" cy="3607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i="0" u="none" strike="noStrike" cap="none" normalizeH="0" baseline="0" dirty="0">
                <a:ln>
                  <a:noFill/>
                </a:ln>
                <a:solidFill>
                  <a:schemeClr val="tx1"/>
                </a:solidFill>
                <a:effectLst/>
                <a:latin typeface="Arial" panose="020B0604020202020204" pitchFamily="34" charset="0"/>
              </a:rPr>
              <a:t>Proposes a Machine Learning–based system to detect stress and mental health conditions using physiological data.</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i="0" u="none" strike="noStrike" cap="none" normalizeH="0" baseline="0" dirty="0">
                <a:ln>
                  <a:noFill/>
                </a:ln>
                <a:solidFill>
                  <a:schemeClr val="tx1"/>
                </a:solidFill>
                <a:effectLst/>
                <a:latin typeface="Arial" panose="020B0604020202020204" pitchFamily="34" charset="0"/>
              </a:rPr>
              <a:t>Integrates Explainable Artificial Intelligence (XAI) techniques to make the model’s predictions understandable and interpretable.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i="0" u="none" strike="noStrike" cap="none" normalizeH="0" baseline="0" dirty="0">
                <a:ln>
                  <a:noFill/>
                </a:ln>
                <a:solidFill>
                  <a:schemeClr val="tx1"/>
                </a:solidFill>
                <a:effectLst/>
                <a:latin typeface="Arial" panose="020B0604020202020204" pitchFamily="34" charset="0"/>
              </a:rPr>
              <a:t>Enables accurate prediction of stress levels while also providing explanations for the model’s decisions.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i="0" u="none" strike="noStrike" cap="none" normalizeH="0" baseline="0" dirty="0">
                <a:ln>
                  <a:noFill/>
                </a:ln>
                <a:solidFill>
                  <a:schemeClr val="tx1"/>
                </a:solidFill>
                <a:effectLst/>
                <a:latin typeface="Arial" panose="020B0604020202020204" pitchFamily="34" charset="0"/>
              </a:rPr>
              <a:t>Enhances trust, transparency, and reliability in AI-based mental health monitoring systems. Supports early detection of stress, allowing timely monitoring and possible intervention.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i="0" u="none" strike="noStrike" cap="none" normalizeH="0" baseline="0" dirty="0">
                <a:ln>
                  <a:noFill/>
                </a:ln>
                <a:solidFill>
                  <a:schemeClr val="tx1"/>
                </a:solidFill>
                <a:effectLst/>
                <a:latin typeface="Arial" panose="020B0604020202020204" pitchFamily="34" charset="0"/>
              </a:rPr>
              <a:t>Contributes to the development of trustworthy AI-driven healthcare solutions for mental health assessment.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9F0CF-27A2-639B-1302-288F717EA47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04BB07D-1585-B406-8E6E-281AA46373A4}"/>
              </a:ext>
            </a:extLst>
          </p:cNvPr>
          <p:cNvSpPr txBox="1"/>
          <p:nvPr/>
        </p:nvSpPr>
        <p:spPr>
          <a:xfrm>
            <a:off x="3705217" y="384069"/>
            <a:ext cx="1731742" cy="289823"/>
          </a:xfrm>
          <a:prstGeom prst="rect">
            <a:avLst/>
          </a:prstGeom>
        </p:spPr>
        <p:txBody>
          <a:bodyPr vert="horz" wrap="square" lIns="0" tIns="12700" rIns="0" bIns="0" rtlCol="0">
            <a:spAutoFit/>
          </a:bodyPr>
          <a:lstStyle/>
          <a:p>
            <a:pPr marL="12700">
              <a:lnSpc>
                <a:spcPct val="100000"/>
              </a:lnSpc>
              <a:spcBef>
                <a:spcPts val="100"/>
              </a:spcBef>
            </a:pPr>
            <a:r>
              <a:rPr b="1" u="sng" spc="-1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REFERENCES</a:t>
            </a:r>
            <a:endParaRPr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4" name="object 4">
            <a:extLst>
              <a:ext uri="{FF2B5EF4-FFF2-40B4-BE49-F238E27FC236}">
                <a16:creationId xmlns:a16="http://schemas.microsoft.com/office/drawing/2014/main" id="{C775F71C-21B4-BF18-1E82-E32BC44C867A}"/>
              </a:ext>
            </a:extLst>
          </p:cNvPr>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15</a:t>
            </a:fld>
            <a:endParaRPr spc="-25"/>
          </a:p>
        </p:txBody>
      </p:sp>
      <p:sp>
        <p:nvSpPr>
          <p:cNvPr id="3" name="object 3">
            <a:extLst>
              <a:ext uri="{FF2B5EF4-FFF2-40B4-BE49-F238E27FC236}">
                <a16:creationId xmlns:a16="http://schemas.microsoft.com/office/drawing/2014/main" id="{937CC04F-2AC7-3C07-7240-45D26423F3CB}"/>
              </a:ext>
            </a:extLst>
          </p:cNvPr>
          <p:cNvSpPr txBox="1"/>
          <p:nvPr/>
        </p:nvSpPr>
        <p:spPr>
          <a:xfrm>
            <a:off x="3091220" y="4448750"/>
            <a:ext cx="2959735" cy="177800"/>
          </a:xfrm>
          <a:prstGeom prst="rect">
            <a:avLst/>
          </a:prstGeom>
        </p:spPr>
        <p:txBody>
          <a:bodyPr vert="horz" wrap="square" lIns="0" tIns="12700" rIns="0" bIns="0" rtlCol="0">
            <a:spAutoFit/>
          </a:bodyPr>
          <a:lstStyle/>
          <a:p>
            <a:pPr marL="12700">
              <a:lnSpc>
                <a:spcPct val="100000"/>
              </a:lnSpc>
              <a:spcBef>
                <a:spcPts val="100"/>
              </a:spcBef>
            </a:pPr>
            <a:r>
              <a:rPr sz="1000" b="1" spc="-20" dirty="0">
                <a:latin typeface="Arial" panose="020B0604020202020204"/>
                <a:cs typeface="Arial" panose="020B0604020202020204"/>
              </a:rPr>
              <a:t>DEPARTMENT</a:t>
            </a:r>
            <a:r>
              <a:rPr sz="1000" b="1" spc="20" dirty="0">
                <a:latin typeface="Arial" panose="020B0604020202020204"/>
                <a:cs typeface="Arial" panose="020B0604020202020204"/>
              </a:rPr>
              <a:t> </a:t>
            </a:r>
            <a:r>
              <a:rPr sz="1000" b="1" dirty="0">
                <a:latin typeface="Arial" panose="020B0604020202020204"/>
                <a:cs typeface="Arial" panose="020B0604020202020204"/>
              </a:rPr>
              <a:t>OF</a:t>
            </a:r>
            <a:r>
              <a:rPr sz="1000" b="1" spc="25" dirty="0">
                <a:latin typeface="Arial" panose="020B0604020202020204"/>
                <a:cs typeface="Arial" panose="020B0604020202020204"/>
              </a:rPr>
              <a:t> </a:t>
            </a:r>
            <a:r>
              <a:rPr sz="1000" b="1" spc="-20" dirty="0">
                <a:latin typeface="Arial" panose="020B0604020202020204"/>
                <a:cs typeface="Arial" panose="020B0604020202020204"/>
              </a:rPr>
              <a:t>INFORMATION</a:t>
            </a:r>
            <a:r>
              <a:rPr sz="1000" b="1" spc="20" dirty="0">
                <a:latin typeface="Arial" panose="020B0604020202020204"/>
                <a:cs typeface="Arial" panose="020B0604020202020204"/>
              </a:rPr>
              <a:t> </a:t>
            </a:r>
            <a:r>
              <a:rPr sz="1000" b="1" spc="-10" dirty="0">
                <a:latin typeface="Arial" panose="020B0604020202020204"/>
                <a:cs typeface="Arial" panose="020B0604020202020204"/>
              </a:rPr>
              <a:t>TECHNOLOGY</a:t>
            </a:r>
            <a:endParaRPr sz="1000" dirty="0">
              <a:latin typeface="Arial" panose="020B0604020202020204"/>
              <a:cs typeface="Arial" panose="020B0604020202020204"/>
            </a:endParaRPr>
          </a:p>
        </p:txBody>
      </p:sp>
      <p:sp>
        <p:nvSpPr>
          <p:cNvPr id="7" name="Rectangle 6">
            <a:extLst>
              <a:ext uri="{FF2B5EF4-FFF2-40B4-BE49-F238E27FC236}">
                <a16:creationId xmlns:a16="http://schemas.microsoft.com/office/drawing/2014/main" id="{51F9D2F4-9C19-E704-AD7B-1ACB496FC132}"/>
              </a:ext>
            </a:extLst>
          </p:cNvPr>
          <p:cNvSpPr/>
          <p:nvPr/>
        </p:nvSpPr>
        <p:spPr>
          <a:xfrm>
            <a:off x="633003" y="1030284"/>
            <a:ext cx="7279506" cy="3659143"/>
          </a:xfrm>
          <a:prstGeom prst="rect">
            <a:avLst/>
          </a:prstGeom>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sz="1200" dirty="0"/>
              <a:t>Upadhya, J., Poudel, K., &amp; Ranganathan, J. (2024, May). A comprehensive approach to early detection of workplace stress with multi-modal analysis and explainable AI. In Proceedings of the 2024 Computers and People Research Conference (pp. 1-9).</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IN" sz="1200" dirty="0"/>
              <a:t>Jaber, D., Hajj, H., Maalouf, F., &amp; El-Hajj, W. (2022). Medically-oriented design for explainable AI for stress prediction from physiological measurements: D. Jaber et al. BMC Medical Informatics and Decision Making, 22(1), 38.</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IN" sz="1200" dirty="0"/>
              <a:t>Ebrahimi, A., Eriksen, J. B. R., Kølbæk, D. K., Pedersen, J. M., Christensen, E. V. J., Skovbakke, S., ... &amp; Wiil, U. K. (2025). Explainable AI models for identifying anxiety and distress in cardiac patients with ICDs. BMC Medical Informatics and Decision Making.</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IN" sz="1200" dirty="0"/>
              <a:t>Vani, M.S., Sudhakar, R.V., Mahendar, A. et al. Personalized health monitoring using explainable AI: bridging trust in predictive healthcare. Sci Rep </a:t>
            </a:r>
            <a:r>
              <a:rPr lang="en-IN" sz="1200" b="1" dirty="0"/>
              <a:t>15</a:t>
            </a:r>
            <a:r>
              <a:rPr lang="en-IN" sz="1200" dirty="0"/>
              <a:t>, 31892 (2025). https://doi.org/10.1038/s41598-025-15867-z</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12890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B13E2-FF37-F545-9D9C-58FB1533B1E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91B5799-EE97-ED42-337D-9DEF8D447D0D}"/>
              </a:ext>
            </a:extLst>
          </p:cNvPr>
          <p:cNvSpPr txBox="1"/>
          <p:nvPr/>
        </p:nvSpPr>
        <p:spPr>
          <a:xfrm>
            <a:off x="3705217" y="384069"/>
            <a:ext cx="1731742" cy="289823"/>
          </a:xfrm>
          <a:prstGeom prst="rect">
            <a:avLst/>
          </a:prstGeom>
        </p:spPr>
        <p:txBody>
          <a:bodyPr vert="horz" wrap="square" lIns="0" tIns="12700" rIns="0" bIns="0" rtlCol="0">
            <a:spAutoFit/>
          </a:bodyPr>
          <a:lstStyle/>
          <a:p>
            <a:pPr marL="12700">
              <a:lnSpc>
                <a:spcPct val="100000"/>
              </a:lnSpc>
              <a:spcBef>
                <a:spcPts val="100"/>
              </a:spcBef>
            </a:pPr>
            <a:r>
              <a:rPr b="1" u="sng" spc="-1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REFERENCES</a:t>
            </a:r>
            <a:endParaRPr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4" name="object 4">
            <a:extLst>
              <a:ext uri="{FF2B5EF4-FFF2-40B4-BE49-F238E27FC236}">
                <a16:creationId xmlns:a16="http://schemas.microsoft.com/office/drawing/2014/main" id="{4E24BB33-36D5-8EE3-1D12-35CF1AA56184}"/>
              </a:ext>
            </a:extLst>
          </p:cNvPr>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16</a:t>
            </a:fld>
            <a:endParaRPr spc="-25"/>
          </a:p>
        </p:txBody>
      </p:sp>
      <p:sp>
        <p:nvSpPr>
          <p:cNvPr id="3" name="object 3">
            <a:extLst>
              <a:ext uri="{FF2B5EF4-FFF2-40B4-BE49-F238E27FC236}">
                <a16:creationId xmlns:a16="http://schemas.microsoft.com/office/drawing/2014/main" id="{D6BC74AE-3869-3162-A330-53BD8ED9AD7E}"/>
              </a:ext>
            </a:extLst>
          </p:cNvPr>
          <p:cNvSpPr txBox="1"/>
          <p:nvPr/>
        </p:nvSpPr>
        <p:spPr>
          <a:xfrm>
            <a:off x="3091220" y="4448750"/>
            <a:ext cx="2959735" cy="177800"/>
          </a:xfrm>
          <a:prstGeom prst="rect">
            <a:avLst/>
          </a:prstGeom>
        </p:spPr>
        <p:txBody>
          <a:bodyPr vert="horz" wrap="square" lIns="0" tIns="12700" rIns="0" bIns="0" rtlCol="0">
            <a:spAutoFit/>
          </a:bodyPr>
          <a:lstStyle/>
          <a:p>
            <a:pPr marL="12700">
              <a:lnSpc>
                <a:spcPct val="100000"/>
              </a:lnSpc>
              <a:spcBef>
                <a:spcPts val="100"/>
              </a:spcBef>
            </a:pPr>
            <a:r>
              <a:rPr sz="1000" b="1" spc="-20" dirty="0">
                <a:latin typeface="Arial" panose="020B0604020202020204"/>
                <a:cs typeface="Arial" panose="020B0604020202020204"/>
              </a:rPr>
              <a:t>DEPARTMENT</a:t>
            </a:r>
            <a:r>
              <a:rPr sz="1000" b="1" spc="20" dirty="0">
                <a:latin typeface="Arial" panose="020B0604020202020204"/>
                <a:cs typeface="Arial" panose="020B0604020202020204"/>
              </a:rPr>
              <a:t> </a:t>
            </a:r>
            <a:r>
              <a:rPr sz="1000" b="1" dirty="0">
                <a:latin typeface="Arial" panose="020B0604020202020204"/>
                <a:cs typeface="Arial" panose="020B0604020202020204"/>
              </a:rPr>
              <a:t>OF</a:t>
            </a:r>
            <a:r>
              <a:rPr sz="1000" b="1" spc="25" dirty="0">
                <a:latin typeface="Arial" panose="020B0604020202020204"/>
                <a:cs typeface="Arial" panose="020B0604020202020204"/>
              </a:rPr>
              <a:t> </a:t>
            </a:r>
            <a:r>
              <a:rPr sz="1000" b="1" spc="-20" dirty="0">
                <a:latin typeface="Arial" panose="020B0604020202020204"/>
                <a:cs typeface="Arial" panose="020B0604020202020204"/>
              </a:rPr>
              <a:t>INFORMATION</a:t>
            </a:r>
            <a:r>
              <a:rPr sz="1000" b="1" spc="20" dirty="0">
                <a:latin typeface="Arial" panose="020B0604020202020204"/>
                <a:cs typeface="Arial" panose="020B0604020202020204"/>
              </a:rPr>
              <a:t> </a:t>
            </a:r>
            <a:r>
              <a:rPr sz="1000" b="1" spc="-10" dirty="0">
                <a:latin typeface="Arial" panose="020B0604020202020204"/>
                <a:cs typeface="Arial" panose="020B0604020202020204"/>
              </a:rPr>
              <a:t>TECHNOLOGY</a:t>
            </a:r>
            <a:endParaRPr sz="1000" dirty="0">
              <a:latin typeface="Arial" panose="020B0604020202020204"/>
              <a:cs typeface="Arial" panose="020B0604020202020204"/>
            </a:endParaRPr>
          </a:p>
        </p:txBody>
      </p:sp>
      <p:sp>
        <p:nvSpPr>
          <p:cNvPr id="7" name="Rectangle 6">
            <a:extLst>
              <a:ext uri="{FF2B5EF4-FFF2-40B4-BE49-F238E27FC236}">
                <a16:creationId xmlns:a16="http://schemas.microsoft.com/office/drawing/2014/main" id="{80A47153-4C9A-5D08-3C37-EDF6EBB11C1C}"/>
              </a:ext>
            </a:extLst>
          </p:cNvPr>
          <p:cNvSpPr/>
          <p:nvPr/>
        </p:nvSpPr>
        <p:spPr>
          <a:xfrm>
            <a:off x="633003" y="1030284"/>
            <a:ext cx="7279506" cy="3105145"/>
          </a:xfrm>
          <a:prstGeom prst="rect">
            <a:avLst/>
          </a:prstGeom>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sz="1200" dirty="0"/>
              <a:t>Lamba, K., Rani, S. &amp; Shabaz, M. Explainable machine learning for mental health prediction from social media behavior: a nested cross-validation study with SHAP and LIME interpretability. </a:t>
            </a:r>
            <a:r>
              <a:rPr lang="en-US" sz="1200" dirty="0" err="1"/>
              <a:t>Discov</a:t>
            </a:r>
            <a:r>
              <a:rPr lang="en-US" sz="1200" dirty="0"/>
              <a:t> Ment Health </a:t>
            </a:r>
            <a:r>
              <a:rPr lang="en-US" sz="1200" b="1" dirty="0"/>
              <a:t>6</a:t>
            </a:r>
            <a:r>
              <a:rPr lang="en-US" sz="1200" dirty="0"/>
              <a:t>, 25 (2026). https://doi.org/10.1007/s44192-026-00373-z</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IN" sz="1200" dirty="0"/>
              <a:t>Ali, S., </a:t>
            </a:r>
            <a:r>
              <a:rPr lang="en-IN" sz="1200" dirty="0" err="1"/>
              <a:t>Abuhmed</a:t>
            </a:r>
            <a:r>
              <a:rPr lang="en-IN" sz="1200" dirty="0"/>
              <a:t>, T., El-</a:t>
            </a:r>
            <a:r>
              <a:rPr lang="en-IN" sz="1200" dirty="0" err="1"/>
              <a:t>Sappagh</a:t>
            </a:r>
            <a:r>
              <a:rPr lang="en-IN" sz="1200" dirty="0"/>
              <a:t>, S., Muhammad, K., Alonso-Moral, J. M., Confalonieri, R., ... &amp; Herrera, F. (2023). Explainable Artificial Intelligence (XAI): What we know and what is left to attain Trustworthy Artificial Intelligence. Information fusion, 99, 101805.</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sz="1200" dirty="0"/>
              <a:t>Ribeiro, M. T., Singh, S., &amp; </a:t>
            </a:r>
            <a:r>
              <a:rPr lang="en-US" sz="1200" dirty="0" err="1"/>
              <a:t>Guestrin</a:t>
            </a:r>
            <a:r>
              <a:rPr lang="en-US" sz="1200" dirty="0"/>
              <a:t>, C. (2016, August). " Why should </a:t>
            </a:r>
            <a:r>
              <a:rPr lang="en-US" sz="1200" dirty="0" err="1"/>
              <a:t>i</a:t>
            </a:r>
            <a:r>
              <a:rPr lang="en-US" sz="1200" dirty="0"/>
              <a:t> trust you?" Explaining the predictions of any classifier. In Proceedings of the 22nd ACM SIGKDD international conference on knowledge discovery and data mining (pp. 1135-1144).</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sz="1200" dirty="0"/>
              <a:t>Lundberg, S. M., &amp; Lee, S. I. (2017). A unified approach to interpreting model predictions. Advances in neural information processing systems, 30.</a:t>
            </a:r>
            <a:endParaRPr kumimoji="0" lang="en-US" sz="1200" b="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675522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518</TotalTime>
  <Words>1577</Words>
  <Application>Microsoft Office PowerPoint</Application>
  <PresentationFormat>On-screen Show (16:9)</PresentationFormat>
  <Paragraphs>211</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 MT</vt:lpstr>
      <vt:lpstr>Calibri</vt:lpstr>
      <vt:lpstr>Times New Roman</vt:lpstr>
      <vt:lpstr>Wingdings</vt:lpstr>
      <vt:lpstr>Office Theme</vt:lpstr>
      <vt:lpstr>PROJECT PRESENTATION  </vt:lpstr>
      <vt:lpstr>MEMBERS</vt:lpstr>
      <vt:lpstr>PowerPoint Presentation</vt:lpstr>
      <vt:lpstr>PowerPoint Presentation</vt:lpstr>
      <vt:lpstr>PowerPoint Presentation</vt:lpstr>
      <vt:lpstr>LITERATURE SURVEY</vt:lpstr>
      <vt:lpstr>LITERATURE SURVEY</vt:lpstr>
      <vt:lpstr>LITERATURE SURVEY</vt:lpstr>
      <vt:lpstr>LITERATURE SURVEY</vt:lpstr>
      <vt:lpstr>LITERATURE SURVEY</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min project Review1_ppt format.pptx</dc:title>
  <dc:creator>Shivam Tiwari</dc:creator>
  <cp:lastModifiedBy>Yadnesh Ranshevare</cp:lastModifiedBy>
  <cp:revision>77</cp:revision>
  <dcterms:created xsi:type="dcterms:W3CDTF">2024-08-10T05:14:00Z</dcterms:created>
  <dcterms:modified xsi:type="dcterms:W3CDTF">2026-03-06T15:28:57Z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ICV">
    <vt:lpwstr>7D08A0612EAF41CFAF9D012C0B9F2C58_13</vt:lpwstr>
  </property>
  <property fmtid="{D5CDD505-2E9C-101B-9397-08002B2CF9AE}" pid="4" name="KSOProductBuildVer">
    <vt:lpwstr>1033-12.2.0.19805</vt:lpwstr>
  </property>
</Properties>
</file>